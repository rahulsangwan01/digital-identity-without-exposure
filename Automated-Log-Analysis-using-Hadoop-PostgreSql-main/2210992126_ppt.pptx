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14"/>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280"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7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200" cy="3608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7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e67deb527e_0_11: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g3e67deb527e_0_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e67deb527e_0_17: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g3e67deb527e_0_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e68e7848af_0_3: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g3e68e7848af_0_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4"/>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
          <p:cNvSpPr txBox="1">
            <a:spLocks noGrp="1"/>
          </p:cNvSpPr>
          <p:nvPr>
            <p:ph type="body" idx="1"/>
          </p:nvPr>
        </p:nvSpPr>
        <p:spPr>
          <a:xfrm>
            <a:off x="457200" y="1604520"/>
            <a:ext cx="8229300" cy="39774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457200" y="1604520"/>
            <a:ext cx="4015800" cy="39774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
          <p:cNvSpPr txBox="1">
            <a:spLocks noGrp="1"/>
          </p:cNvSpPr>
          <p:nvPr>
            <p:ph type="body" idx="2"/>
          </p:nvPr>
        </p:nvSpPr>
        <p:spPr>
          <a:xfrm>
            <a:off x="4674240" y="1604520"/>
            <a:ext cx="4015800" cy="39774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7"/>
          <p:cNvSpPr txBox="1">
            <a:spLocks noGrp="1"/>
          </p:cNvSpPr>
          <p:nvPr>
            <p:ph type="subTitle" idx="1"/>
          </p:nvPr>
        </p:nvSpPr>
        <p:spPr>
          <a:xfrm>
            <a:off x="0" y="0"/>
            <a:ext cx="5486100" cy="423840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457200" y="160452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8"/>
          <p:cNvSpPr txBox="1">
            <a:spLocks noGrp="1"/>
          </p:cNvSpPr>
          <p:nvPr>
            <p:ph type="body" idx="2"/>
          </p:nvPr>
        </p:nvSpPr>
        <p:spPr>
          <a:xfrm>
            <a:off x="4674240" y="1604520"/>
            <a:ext cx="4015800" cy="39774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body" idx="3"/>
          </p:nvPr>
        </p:nvSpPr>
        <p:spPr>
          <a:xfrm>
            <a:off x="457200" y="368208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body" idx="1"/>
          </p:nvPr>
        </p:nvSpPr>
        <p:spPr>
          <a:xfrm>
            <a:off x="457200" y="1604520"/>
            <a:ext cx="4015800" cy="39774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9"/>
          <p:cNvSpPr txBox="1">
            <a:spLocks noGrp="1"/>
          </p:cNvSpPr>
          <p:nvPr>
            <p:ph type="body" idx="2"/>
          </p:nvPr>
        </p:nvSpPr>
        <p:spPr>
          <a:xfrm>
            <a:off x="4674240" y="160452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
          <p:cNvSpPr txBox="1">
            <a:spLocks noGrp="1"/>
          </p:cNvSpPr>
          <p:nvPr>
            <p:ph type="body" idx="3"/>
          </p:nvPr>
        </p:nvSpPr>
        <p:spPr>
          <a:xfrm>
            <a:off x="4674240" y="368208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body" idx="1"/>
          </p:nvPr>
        </p:nvSpPr>
        <p:spPr>
          <a:xfrm>
            <a:off x="457200" y="160452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0"/>
          <p:cNvSpPr txBox="1">
            <a:spLocks noGrp="1"/>
          </p:cNvSpPr>
          <p:nvPr>
            <p:ph type="body" idx="2"/>
          </p:nvPr>
        </p:nvSpPr>
        <p:spPr>
          <a:xfrm>
            <a:off x="4674240" y="160452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0"/>
          <p:cNvSpPr txBox="1">
            <a:spLocks noGrp="1"/>
          </p:cNvSpPr>
          <p:nvPr>
            <p:ph type="body" idx="3"/>
          </p:nvPr>
        </p:nvSpPr>
        <p:spPr>
          <a:xfrm>
            <a:off x="457200" y="3682080"/>
            <a:ext cx="82293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11"/>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1"/>
          <p:cNvSpPr txBox="1">
            <a:spLocks noGrp="1"/>
          </p:cNvSpPr>
          <p:nvPr>
            <p:ph type="body" idx="1"/>
          </p:nvPr>
        </p:nvSpPr>
        <p:spPr>
          <a:xfrm>
            <a:off x="457200" y="1604520"/>
            <a:ext cx="82293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1"/>
          <p:cNvSpPr txBox="1">
            <a:spLocks noGrp="1"/>
          </p:cNvSpPr>
          <p:nvPr>
            <p:ph type="body" idx="2"/>
          </p:nvPr>
        </p:nvSpPr>
        <p:spPr>
          <a:xfrm>
            <a:off x="457200" y="3682080"/>
            <a:ext cx="82293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txBox="1">
            <a:spLocks noGrp="1"/>
          </p:cNvSpPr>
          <p:nvPr>
            <p:ph type="body" idx="1"/>
          </p:nvPr>
        </p:nvSpPr>
        <p:spPr>
          <a:xfrm>
            <a:off x="457200" y="160452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2"/>
          <p:cNvSpPr txBox="1">
            <a:spLocks noGrp="1"/>
          </p:cNvSpPr>
          <p:nvPr>
            <p:ph type="body" idx="2"/>
          </p:nvPr>
        </p:nvSpPr>
        <p:spPr>
          <a:xfrm>
            <a:off x="4674240" y="160452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2"/>
          <p:cNvSpPr txBox="1">
            <a:spLocks noGrp="1"/>
          </p:cNvSpPr>
          <p:nvPr>
            <p:ph type="body" idx="3"/>
          </p:nvPr>
        </p:nvSpPr>
        <p:spPr>
          <a:xfrm>
            <a:off x="457200" y="368208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2"/>
          <p:cNvSpPr txBox="1">
            <a:spLocks noGrp="1"/>
          </p:cNvSpPr>
          <p:nvPr>
            <p:ph type="body" idx="4"/>
          </p:nvPr>
        </p:nvSpPr>
        <p:spPr>
          <a:xfrm>
            <a:off x="4674240" y="3682080"/>
            <a:ext cx="40158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3"/>
          <p:cNvSpPr txBox="1">
            <a:spLocks noGrp="1"/>
          </p:cNvSpPr>
          <p:nvPr>
            <p:ph type="body" idx="1"/>
          </p:nvPr>
        </p:nvSpPr>
        <p:spPr>
          <a:xfrm>
            <a:off x="457200" y="1604520"/>
            <a:ext cx="26496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3"/>
          <p:cNvSpPr txBox="1">
            <a:spLocks noGrp="1"/>
          </p:cNvSpPr>
          <p:nvPr>
            <p:ph type="body" idx="2"/>
          </p:nvPr>
        </p:nvSpPr>
        <p:spPr>
          <a:xfrm>
            <a:off x="3239640" y="1604520"/>
            <a:ext cx="26496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body" idx="3"/>
          </p:nvPr>
        </p:nvSpPr>
        <p:spPr>
          <a:xfrm>
            <a:off x="6022080" y="1604520"/>
            <a:ext cx="26496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body" idx="4"/>
          </p:nvPr>
        </p:nvSpPr>
        <p:spPr>
          <a:xfrm>
            <a:off x="457200" y="3682080"/>
            <a:ext cx="26496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3"/>
          <p:cNvSpPr txBox="1">
            <a:spLocks noGrp="1"/>
          </p:cNvSpPr>
          <p:nvPr>
            <p:ph type="body" idx="5"/>
          </p:nvPr>
        </p:nvSpPr>
        <p:spPr>
          <a:xfrm>
            <a:off x="3239640" y="3682080"/>
            <a:ext cx="26496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body" idx="6"/>
          </p:nvPr>
        </p:nvSpPr>
        <p:spPr>
          <a:xfrm>
            <a:off x="6022080" y="3682080"/>
            <a:ext cx="2649600" cy="189690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3700" cy="83760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1"/>
          <p:cNvSpPr/>
          <p:nvPr/>
        </p:nvSpPr>
        <p:spPr>
          <a:xfrm rot="10800000" flipH="1">
            <a:off x="0" y="6704580"/>
            <a:ext cx="9143700" cy="19770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1" descr="LOGO.gif"/>
          <p:cNvPicPr preferRelativeResize="0"/>
          <p:nvPr/>
        </p:nvPicPr>
        <p:blipFill rotWithShape="1">
          <a:blip r:embed="rId13">
            <a:alphaModFix/>
          </a:blip>
          <a:srcRect b="10714"/>
          <a:stretch/>
        </p:blipFill>
        <p:spPr>
          <a:xfrm>
            <a:off x="6553080" y="228600"/>
            <a:ext cx="2057039" cy="634680"/>
          </a:xfrm>
          <a:prstGeom prst="rect">
            <a:avLst/>
          </a:prstGeom>
          <a:noFill/>
          <a:ln>
            <a:noFill/>
          </a:ln>
        </p:spPr>
      </p:pic>
      <p:pic>
        <p:nvPicPr>
          <p:cNvPr id="13" name="Google Shape;13;p1" descr="LOGO.gif"/>
          <p:cNvPicPr preferRelativeResize="0"/>
          <p:nvPr/>
        </p:nvPicPr>
        <p:blipFill rotWithShape="1">
          <a:blip r:embed="rId13">
            <a:alphaModFix/>
          </a:blip>
          <a:srcRect b="10714"/>
          <a:stretch/>
        </p:blipFill>
        <p:spPr>
          <a:xfrm>
            <a:off x="6553080" y="228600"/>
            <a:ext cx="2057039" cy="634680"/>
          </a:xfrm>
          <a:prstGeom prst="rect">
            <a:avLst/>
          </a:prstGeom>
          <a:noFill/>
          <a:ln>
            <a:noFill/>
          </a:ln>
        </p:spPr>
      </p:pic>
      <p:grpSp>
        <p:nvGrpSpPr>
          <p:cNvPr id="14" name="Google Shape;14;p1"/>
          <p:cNvGrpSpPr/>
          <p:nvPr/>
        </p:nvGrpSpPr>
        <p:grpSpPr>
          <a:xfrm>
            <a:off x="6146640" y="0"/>
            <a:ext cx="2997000" cy="875940"/>
            <a:chOff x="6146640" y="0"/>
            <a:chExt cx="2997000" cy="875940"/>
          </a:xfrm>
        </p:grpSpPr>
        <p:sp>
          <p:nvSpPr>
            <p:cNvPr id="15" name="Google Shape;15;p1"/>
            <p:cNvSpPr/>
            <p:nvPr/>
          </p:nvSpPr>
          <p:spPr>
            <a:xfrm>
              <a:off x="6146640" y="0"/>
              <a:ext cx="2997000" cy="83760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1" descr="LOGO.gif"/>
            <p:cNvPicPr preferRelativeResize="0"/>
            <p:nvPr/>
          </p:nvPicPr>
          <p:blipFill rotWithShape="1">
            <a:blip r:embed="rId13">
              <a:alphaModFix/>
            </a:blip>
            <a:srcRect b="10714"/>
            <a:stretch/>
          </p:blipFill>
          <p:spPr>
            <a:xfrm>
              <a:off x="6553080" y="228600"/>
              <a:ext cx="2057039" cy="634680"/>
            </a:xfrm>
            <a:prstGeom prst="rect">
              <a:avLst/>
            </a:prstGeom>
            <a:noFill/>
            <a:ln>
              <a:noFill/>
            </a:ln>
          </p:spPr>
        </p:pic>
        <p:sp>
          <p:nvSpPr>
            <p:cNvPr id="17" name="Google Shape;17;p1"/>
            <p:cNvSpPr/>
            <p:nvPr/>
          </p:nvSpPr>
          <p:spPr>
            <a:xfrm>
              <a:off x="6527880" y="190440"/>
              <a:ext cx="2076000" cy="685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1" descr="logo.jpg"/>
          <p:cNvPicPr preferRelativeResize="0"/>
          <p:nvPr/>
        </p:nvPicPr>
        <p:blipFill rotWithShape="1">
          <a:blip r:embed="rId14">
            <a:alphaModFix/>
          </a:blip>
          <a:srcRect/>
          <a:stretch/>
        </p:blipFill>
        <p:spPr>
          <a:xfrm>
            <a:off x="6553080" y="228600"/>
            <a:ext cx="1920600" cy="609120"/>
          </a:xfrm>
          <a:prstGeom prst="rect">
            <a:avLst/>
          </a:prstGeom>
          <a:noFill/>
          <a:ln>
            <a:noFill/>
          </a:ln>
        </p:spPr>
      </p:pic>
      <p:pic>
        <p:nvPicPr>
          <p:cNvPr id="19" name="Google Shape;19;p1" descr="LOGO.gif"/>
          <p:cNvPicPr preferRelativeResize="0"/>
          <p:nvPr/>
        </p:nvPicPr>
        <p:blipFill rotWithShape="1">
          <a:blip r:embed="rId13">
            <a:alphaModFix/>
          </a:blip>
          <a:srcRect b="10714"/>
          <a:stretch/>
        </p:blipFill>
        <p:spPr>
          <a:xfrm>
            <a:off x="6553080" y="228600"/>
            <a:ext cx="2057039" cy="634680"/>
          </a:xfrm>
          <a:prstGeom prst="rect">
            <a:avLst/>
          </a:prstGeom>
          <a:noFill/>
          <a:ln>
            <a:noFill/>
          </a:ln>
        </p:spPr>
      </p:pic>
      <p:grpSp>
        <p:nvGrpSpPr>
          <p:cNvPr id="20" name="Google Shape;20;p1"/>
          <p:cNvGrpSpPr/>
          <p:nvPr/>
        </p:nvGrpSpPr>
        <p:grpSpPr>
          <a:xfrm>
            <a:off x="6146640" y="0"/>
            <a:ext cx="2997000" cy="875940"/>
            <a:chOff x="6146640" y="0"/>
            <a:chExt cx="2997000" cy="875940"/>
          </a:xfrm>
        </p:grpSpPr>
        <p:sp>
          <p:nvSpPr>
            <p:cNvPr id="21" name="Google Shape;21;p1"/>
            <p:cNvSpPr/>
            <p:nvPr/>
          </p:nvSpPr>
          <p:spPr>
            <a:xfrm>
              <a:off x="6146640" y="0"/>
              <a:ext cx="2997000" cy="83760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1" descr="LOGO.gif"/>
            <p:cNvPicPr preferRelativeResize="0"/>
            <p:nvPr/>
          </p:nvPicPr>
          <p:blipFill rotWithShape="1">
            <a:blip r:embed="rId13">
              <a:alphaModFix/>
            </a:blip>
            <a:srcRect b="10714"/>
            <a:stretch/>
          </p:blipFill>
          <p:spPr>
            <a:xfrm>
              <a:off x="6553080" y="228600"/>
              <a:ext cx="2057039" cy="634680"/>
            </a:xfrm>
            <a:prstGeom prst="rect">
              <a:avLst/>
            </a:prstGeom>
            <a:noFill/>
            <a:ln>
              <a:noFill/>
            </a:ln>
          </p:spPr>
        </p:pic>
        <p:sp>
          <p:nvSpPr>
            <p:cNvPr id="23" name="Google Shape;23;p1"/>
            <p:cNvSpPr/>
            <p:nvPr/>
          </p:nvSpPr>
          <p:spPr>
            <a:xfrm>
              <a:off x="6527880" y="190440"/>
              <a:ext cx="2076000" cy="685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1" descr="logo.jpg"/>
          <p:cNvPicPr preferRelativeResize="0"/>
          <p:nvPr/>
        </p:nvPicPr>
        <p:blipFill rotWithShape="1">
          <a:blip r:embed="rId14">
            <a:alphaModFix/>
          </a:blip>
          <a:srcRect/>
          <a:stretch/>
        </p:blipFill>
        <p:spPr>
          <a:xfrm>
            <a:off x="6553080" y="228600"/>
            <a:ext cx="1920600" cy="609120"/>
          </a:xfrm>
          <a:prstGeom prst="rect">
            <a:avLst/>
          </a:prstGeom>
          <a:noFill/>
          <a:ln>
            <a:noFill/>
          </a:ln>
        </p:spPr>
      </p:pic>
      <p:sp>
        <p:nvSpPr>
          <p:cNvPr id="25" name="Google Shape;25;p1"/>
          <p:cNvSpPr txBox="1">
            <a:spLocks noGrp="1"/>
          </p:cNvSpPr>
          <p:nvPr>
            <p:ph type="title"/>
          </p:nvPr>
        </p:nvSpPr>
        <p:spPr>
          <a:xfrm>
            <a:off x="0" y="0"/>
            <a:ext cx="6476700" cy="8376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1"/>
          <p:cNvSpPr txBox="1">
            <a:spLocks noGrp="1"/>
          </p:cNvSpPr>
          <p:nvPr>
            <p:ph type="body" idx="1"/>
          </p:nvPr>
        </p:nvSpPr>
        <p:spPr>
          <a:xfrm>
            <a:off x="457200" y="1371600"/>
            <a:ext cx="8229300" cy="45255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1"/>
          <p:cNvSpPr txBox="1">
            <a:spLocks noGrp="1"/>
          </p:cNvSpPr>
          <p:nvPr>
            <p:ph type="dt" idx="10"/>
          </p:nvPr>
        </p:nvSpPr>
        <p:spPr>
          <a:xfrm>
            <a:off x="457200" y="6356520"/>
            <a:ext cx="2133300" cy="364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8" name="Google Shape;28;p1"/>
          <p:cNvSpPr txBox="1">
            <a:spLocks noGrp="1"/>
          </p:cNvSpPr>
          <p:nvPr>
            <p:ph type="ftr" idx="11"/>
          </p:nvPr>
        </p:nvSpPr>
        <p:spPr>
          <a:xfrm>
            <a:off x="3124080" y="6356520"/>
            <a:ext cx="2895000" cy="3648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9" name="Google Shape;29;p1"/>
          <p:cNvSpPr txBox="1">
            <a:spLocks noGrp="1"/>
          </p:cNvSpPr>
          <p:nvPr>
            <p:ph type="sldNum" idx="12"/>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p:nvPr/>
        </p:nvSpPr>
        <p:spPr>
          <a:xfrm>
            <a:off x="0" y="840625"/>
            <a:ext cx="9144000" cy="5721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Project Presentation of CO-OP Project at Industry (Module-2) (22CS421)</a:t>
            </a:r>
            <a:endParaRPr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On</a:t>
            </a:r>
          </a:p>
          <a:p>
            <a:pPr marL="0" marR="0" lvl="0" indent="0" algn="ctr" rtl="0">
              <a:lnSpc>
                <a:spcPct val="100000"/>
              </a:lnSpc>
              <a:spcBef>
                <a:spcPts val="400"/>
              </a:spcBef>
              <a:spcAft>
                <a:spcPts val="0"/>
              </a:spcAft>
              <a:buClr>
                <a:srgbClr val="000000"/>
              </a:buClr>
              <a:buSzPts val="2000"/>
              <a:buFont typeface="Arial"/>
              <a:buNone/>
            </a:pPr>
            <a:endParaRPr sz="1400" b="0" i="0" u="none" strike="noStrike" cap="none" dirty="0">
              <a:solidFill>
                <a:srgbClr val="000000"/>
              </a:solidFill>
              <a:latin typeface="Arial"/>
              <a:ea typeface="Arial"/>
              <a:cs typeface="Arial"/>
              <a:sym typeface="Arial"/>
            </a:endParaRPr>
          </a:p>
          <a:p>
            <a:pPr lvl="0" algn="ctr">
              <a:spcBef>
                <a:spcPts val="400"/>
              </a:spcBef>
              <a:buSzPts val="4800"/>
            </a:pPr>
            <a:r>
              <a:rPr lang="en-US" sz="2600" dirty="0">
                <a:latin typeface="Times New Roman" panose="02020603050405020304" pitchFamily="18" charset="0"/>
                <a:cs typeface="Times New Roman" panose="02020603050405020304" pitchFamily="18" charset="0"/>
              </a:rPr>
              <a:t>DIGITAL IDENTITY WITHOUT EXPOSURE: A PRIVACY PRESERVING DECENTRALIZED APPROACH </a:t>
            </a:r>
            <a:endParaRPr sz="2600" b="0" i="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400"/>
              </a:spcBef>
              <a:spcAft>
                <a:spcPts val="0"/>
              </a:spcAft>
              <a:buClr>
                <a:srgbClr val="000000"/>
              </a:buClr>
              <a:buSzPts val="2000"/>
              <a:buFont typeface="Arial"/>
              <a:buNone/>
            </a:pPr>
            <a:br>
              <a:rPr lang="en-US" sz="2000" b="0" i="0" u="none" strike="noStrike" cap="none" dirty="0">
                <a:solidFill>
                  <a:srgbClr val="000000"/>
                </a:solidFill>
                <a:latin typeface="Times New Roman"/>
                <a:ea typeface="Times New Roman"/>
                <a:cs typeface="Times New Roman"/>
                <a:sym typeface="Times New Roman"/>
              </a:rPr>
            </a:br>
            <a:r>
              <a:rPr lang="en-US" sz="1800" dirty="0"/>
              <a:t>Rahul		              - 2210992126</a:t>
            </a:r>
            <a:endParaRPr sz="1800" dirty="0"/>
          </a:p>
          <a:p>
            <a:pPr marL="0" lvl="0" indent="0" algn="ctr" rtl="0">
              <a:spcBef>
                <a:spcPts val="400"/>
              </a:spcBef>
              <a:spcAft>
                <a:spcPts val="0"/>
              </a:spcAft>
              <a:buClr>
                <a:schemeClr val="dk1"/>
              </a:buClr>
              <a:buSzPts val="1100"/>
              <a:buFont typeface="Arial"/>
              <a:buNone/>
            </a:pPr>
            <a:r>
              <a:rPr lang="en-US" sz="1800" dirty="0" err="1"/>
              <a:t>Ishanesh</a:t>
            </a:r>
            <a:r>
              <a:rPr lang="en-US" sz="1800" dirty="0"/>
              <a:t> Srivastava	- 2210991685</a:t>
            </a:r>
            <a:endParaRPr sz="1800" dirty="0"/>
          </a:p>
          <a:p>
            <a:pPr marL="0" lvl="0" indent="0" algn="ctr" rtl="0">
              <a:spcBef>
                <a:spcPts val="400"/>
              </a:spcBef>
              <a:spcAft>
                <a:spcPts val="0"/>
              </a:spcAft>
              <a:buClr>
                <a:schemeClr val="dk1"/>
              </a:buClr>
              <a:buSzPts val="1100"/>
              <a:buFont typeface="Arial"/>
              <a:buNone/>
            </a:pPr>
            <a:endParaRPr sz="1200" i="0" u="none" strike="noStrike" cap="none" dirty="0">
              <a:solidFill>
                <a:srgbClr val="000000"/>
              </a:solidFill>
            </a:endParaRPr>
          </a:p>
          <a:p>
            <a:pPr marL="0" marR="0" lvl="0" indent="0" algn="ctr" rtl="0">
              <a:lnSpc>
                <a:spcPct val="100000"/>
              </a:lnSpc>
              <a:spcBef>
                <a:spcPts val="400"/>
              </a:spcBef>
              <a:spcAft>
                <a:spcPts val="0"/>
              </a:spcAft>
              <a:buClr>
                <a:srgbClr val="000000"/>
              </a:buClr>
              <a:buSzPts val="2000"/>
              <a:buFont typeface="Arial"/>
              <a:buNone/>
            </a:pPr>
            <a:endParaRPr sz="2000" i="0" u="none" strike="noStrike" cap="none" dirty="0">
              <a:solidFill>
                <a:srgbClr val="000000"/>
              </a:solidFill>
            </a:endParaRPr>
          </a:p>
          <a:p>
            <a:pPr marL="0" marR="0" lvl="0" indent="0" algn="ctr" rtl="0">
              <a:lnSpc>
                <a:spcPct val="100000"/>
              </a:lnSpc>
              <a:spcBef>
                <a:spcPts val="400"/>
              </a:spcBef>
              <a:spcAft>
                <a:spcPts val="0"/>
              </a:spcAft>
              <a:buClr>
                <a:srgbClr val="000000"/>
              </a:buClr>
              <a:buSzPts val="2000"/>
              <a:buFont typeface="Arial"/>
              <a:buNone/>
            </a:pPr>
            <a:r>
              <a:rPr lang="en-US" sz="1800" i="0" u="none" strike="noStrike" cap="none" dirty="0">
                <a:solidFill>
                  <a:srgbClr val="000000"/>
                </a:solidFill>
              </a:rPr>
              <a:t>Supervised By</a:t>
            </a:r>
            <a:endParaRPr sz="1200" i="0" u="none" strike="noStrike" cap="none" dirty="0">
              <a:solidFill>
                <a:srgbClr val="000000"/>
              </a:solidFill>
            </a:endParaRPr>
          </a:p>
          <a:p>
            <a:pPr marL="0" marR="0" lvl="0" indent="0" algn="ctr" rtl="0">
              <a:lnSpc>
                <a:spcPct val="100000"/>
              </a:lnSpc>
              <a:spcBef>
                <a:spcPts val="400"/>
              </a:spcBef>
              <a:spcAft>
                <a:spcPts val="0"/>
              </a:spcAft>
              <a:buClr>
                <a:srgbClr val="000000"/>
              </a:buClr>
              <a:buSzPts val="2000"/>
              <a:buFont typeface="Arial"/>
              <a:buNone/>
            </a:pPr>
            <a:r>
              <a:rPr lang="en-US" sz="1800" dirty="0"/>
              <a:t>Ashish Kumar</a:t>
            </a:r>
            <a:endParaRPr sz="1800" i="0" u="none" strike="noStrike" cap="none" dirty="0">
              <a:solidFill>
                <a:schemeClr val="dk1"/>
              </a:solidFill>
            </a:endParaRPr>
          </a:p>
          <a:p>
            <a:pPr marL="0" marR="0" lvl="0" indent="0" algn="ctr" rtl="0">
              <a:lnSpc>
                <a:spcPct val="100000"/>
              </a:lnSpc>
              <a:spcBef>
                <a:spcPts val="400"/>
              </a:spcBef>
              <a:spcAft>
                <a:spcPts val="0"/>
              </a:spcAft>
              <a:buClr>
                <a:srgbClr val="000000"/>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400"/>
              <a:buFont typeface="Arial"/>
              <a:buNone/>
            </a:pPr>
            <a:r>
              <a:rPr lang="en-US" sz="2400" i="0" u="none" strike="noStrike" cap="none" dirty="0">
                <a:solidFill>
                  <a:schemeClr val="dk1"/>
                </a:solidFill>
              </a:rPr>
              <a:t>Department of Computer Science and Engineering, </a:t>
            </a:r>
            <a:endParaRPr sz="1400" i="0" u="none" strike="noStrike" cap="none" dirty="0">
              <a:solidFill>
                <a:srgbClr val="000000"/>
              </a:solidFill>
            </a:endParaRPr>
          </a:p>
          <a:p>
            <a:pPr marL="0" marR="0" lvl="0" indent="0" algn="ctr" rtl="0">
              <a:lnSpc>
                <a:spcPct val="100000"/>
              </a:lnSpc>
              <a:spcBef>
                <a:spcPts val="400"/>
              </a:spcBef>
              <a:spcAft>
                <a:spcPts val="0"/>
              </a:spcAft>
              <a:buClr>
                <a:srgbClr val="000000"/>
              </a:buClr>
              <a:buSzPts val="2400"/>
              <a:buFont typeface="Arial"/>
              <a:buNone/>
            </a:pPr>
            <a:r>
              <a:rPr lang="en-US" sz="2400" i="0" u="none" strike="noStrike" cap="none" dirty="0">
                <a:solidFill>
                  <a:schemeClr val="dk1"/>
                </a:solidFill>
              </a:rPr>
              <a:t>Chitkara University, Punjab</a:t>
            </a:r>
            <a:endParaRPr sz="1400" i="0" u="none" strike="noStrike" cap="none" dirty="0">
              <a:solidFill>
                <a:srgbClr val="000000"/>
              </a:solidFill>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04CA-D4BB-CB53-EA5E-CBFD722B3423}"/>
              </a:ext>
            </a:extLst>
          </p:cNvPr>
          <p:cNvSpPr>
            <a:spLocks noGrp="1"/>
          </p:cNvSpPr>
          <p:nvPr>
            <p:ph type="title"/>
          </p:nvPr>
        </p:nvSpPr>
        <p:spPr>
          <a:xfrm>
            <a:off x="457200" y="0"/>
            <a:ext cx="5028900" cy="914100"/>
          </a:xfrm>
        </p:spPr>
        <p:txBody>
          <a:bodyPr/>
          <a:lstStyle/>
          <a:p>
            <a:r>
              <a:rPr lang="en-US" sz="3200" dirty="0">
                <a:latin typeface="Times New Roman" panose="02020603050405020304" pitchFamily="18" charset="0"/>
                <a:cs typeface="Times New Roman" panose="02020603050405020304" pitchFamily="18" charset="0"/>
              </a:rPr>
              <a:t>Abstract</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8FA7929-AA69-16D1-008F-62FD94A19BB6}"/>
              </a:ext>
            </a:extLst>
          </p:cNvPr>
          <p:cNvSpPr>
            <a:spLocks noGrp="1"/>
          </p:cNvSpPr>
          <p:nvPr>
            <p:ph type="body" idx="1"/>
          </p:nvPr>
        </p:nvSpPr>
        <p:spPr>
          <a:xfrm>
            <a:off x="375385" y="1347537"/>
            <a:ext cx="8311115" cy="4234383"/>
          </a:xfrm>
        </p:spPr>
        <p:txBody>
          <a:bodyPr>
            <a:normAutofit/>
          </a:bodyPr>
          <a:lstStyle/>
          <a:p>
            <a:pPr marL="114300" indent="0">
              <a:lnSpc>
                <a:spcPct val="150000"/>
              </a:lnSpc>
              <a:buNone/>
            </a:pPr>
            <a:r>
              <a:rPr lang="en-US" sz="1600" dirty="0">
                <a:latin typeface="Times New Roman" panose="02020603050405020304" pitchFamily="18" charset="0"/>
                <a:cs typeface="Times New Roman" panose="02020603050405020304" pitchFamily="18" charset="0"/>
              </a:rPr>
              <a:t>Digital identity systems are essential for accessing online services, but traditional centralized approaches expose users to risks like data breaches and privacy loss. The proposed system introduces a privacy-preserving decentralized digital identity framework that enables secure authentication without revealing sensitive information. It uses Decentralized Identifiers (DIDs), Verifiable Credentials (VCs), and selective disclosure to ensure minimal data sharing. Blockchain technology provides a tamper-proof and transparent system, eliminating single points of failure. The system includes User, Issuer, Verifier, and a Decentralized Ledger to manage identity creation and verification. This approach enhances security, privacy, and user control, making it suitable for applications like banking, healthcare, and e-governance.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3601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marL="0" lvl="0" indent="0" rtl="0">
              <a:spcBef>
                <a:spcPts val="0"/>
              </a:spcBef>
              <a:spcAft>
                <a:spcPts val="0"/>
              </a:spcAft>
              <a:buClr>
                <a:schemeClr val="dk1"/>
              </a:buClr>
              <a:buSzPts val="3200"/>
              <a:buFont typeface="Arial"/>
              <a:buNone/>
            </a:pPr>
            <a:r>
              <a:rPr lang="en-US" sz="3200" dirty="0">
                <a:solidFill>
                  <a:schemeClr val="dk1"/>
                </a:solidFill>
                <a:latin typeface="Times New Roman"/>
                <a:ea typeface="Times New Roman"/>
                <a:cs typeface="Times New Roman"/>
                <a:sym typeface="Times New Roman"/>
              </a:rPr>
              <a:t>Introduction</a:t>
            </a:r>
            <a:endParaRPr dirty="0"/>
          </a:p>
        </p:txBody>
      </p:sp>
      <p:sp>
        <p:nvSpPr>
          <p:cNvPr id="90" name="Google Shape;90;p15"/>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3</a:t>
            </a:fld>
            <a:endParaRPr/>
          </a:p>
        </p:txBody>
      </p:sp>
      <p:sp>
        <p:nvSpPr>
          <p:cNvPr id="91" name="Google Shape;91;p15"/>
          <p:cNvSpPr txBox="1"/>
          <p:nvPr/>
        </p:nvSpPr>
        <p:spPr>
          <a:xfrm>
            <a:off x="148046" y="1201783"/>
            <a:ext cx="8843261" cy="4899909"/>
          </a:xfrm>
          <a:prstGeom prst="rect">
            <a:avLst/>
          </a:prstGeom>
          <a:noFill/>
          <a:ln>
            <a:noFill/>
          </a:ln>
        </p:spPr>
        <p:txBody>
          <a:bodyPr spcFirstLastPara="1" wrap="square" lIns="91425" tIns="45700" rIns="91425" bIns="45700" anchor="t" anchorCtr="0">
            <a:normAutofit/>
          </a:bodyPr>
          <a:lstStyle/>
          <a:p>
            <a:pPr marL="457200" lvl="0" indent="-349250">
              <a:lnSpc>
                <a:spcPct val="150000"/>
              </a:lnSpc>
              <a:spcBef>
                <a:spcPts val="100"/>
              </a:spcBef>
              <a:buClr>
                <a:schemeClr val="dk1"/>
              </a:buClr>
              <a:buSzPts val="1900"/>
              <a:buFont typeface="Times New Roman"/>
              <a:buChar char="●"/>
            </a:pPr>
            <a:r>
              <a:rPr lang="en-US" sz="1600" dirty="0">
                <a:latin typeface="Times New Roman" panose="02020603050405020304" pitchFamily="18" charset="0"/>
                <a:cs typeface="Times New Roman" panose="02020603050405020304" pitchFamily="18" charset="0"/>
              </a:rPr>
              <a:t>Digital identity is essential for accessing modern online services like banking, healthcare, and e-governance.</a:t>
            </a: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lvl="0" indent="-349250">
              <a:lnSpc>
                <a:spcPct val="150000"/>
              </a:lnSpc>
              <a:spcBef>
                <a:spcPts val="100"/>
              </a:spcBef>
              <a:buClr>
                <a:schemeClr val="dk1"/>
              </a:buClr>
              <a:buSzPts val="1900"/>
              <a:buFont typeface="Times New Roman"/>
              <a:buChar char="●"/>
            </a:pPr>
            <a:r>
              <a:rPr lang="en-US" sz="1600" dirty="0">
                <a:latin typeface="Times New Roman" panose="02020603050405020304" pitchFamily="18" charset="0"/>
                <a:cs typeface="Times New Roman" panose="02020603050405020304" pitchFamily="18" charset="0"/>
              </a:rPr>
              <a:t>Most existing identity systems are centralized, which creates risks like data breaches and privacy loss.</a:t>
            </a: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lvl="0" indent="-349250">
              <a:lnSpc>
                <a:spcPct val="150000"/>
              </a:lnSpc>
              <a:spcBef>
                <a:spcPts val="100"/>
              </a:spcBef>
              <a:buClr>
                <a:schemeClr val="dk1"/>
              </a:buClr>
              <a:buSzPts val="1900"/>
              <a:buFont typeface="Times New Roman"/>
              <a:buChar char="●"/>
            </a:pPr>
            <a:r>
              <a:rPr lang="en-US" sz="1600" dirty="0">
                <a:latin typeface="Times New Roman" panose="02020603050405020304" pitchFamily="18" charset="0"/>
                <a:cs typeface="Times New Roman" panose="02020603050405020304" pitchFamily="18" charset="0"/>
              </a:rPr>
              <a:t>Users often have to share more personal information than necessary during verification.</a:t>
            </a: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lvl="0" indent="-349250">
              <a:lnSpc>
                <a:spcPct val="150000"/>
              </a:lnSpc>
              <a:spcBef>
                <a:spcPts val="100"/>
              </a:spcBef>
              <a:buClr>
                <a:schemeClr val="dk1"/>
              </a:buClr>
              <a:buSzPts val="1900"/>
              <a:buFont typeface="Times New Roman"/>
              <a:buChar char="●"/>
            </a:pPr>
            <a:r>
              <a:rPr lang="en-US" sz="1600" dirty="0">
                <a:latin typeface="Times New Roman" panose="02020603050405020304" pitchFamily="18" charset="0"/>
                <a:cs typeface="Times New Roman" panose="02020603050405020304" pitchFamily="18" charset="0"/>
              </a:rPr>
              <a:t>Centralized systems act as a single point of failure, making them vulnerable to cyber-attacks.</a:t>
            </a: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lvl="0" indent="-349250">
              <a:lnSpc>
                <a:spcPct val="150000"/>
              </a:lnSpc>
              <a:spcBef>
                <a:spcPts val="100"/>
              </a:spcBef>
              <a:buClr>
                <a:schemeClr val="dk1"/>
              </a:buClr>
              <a:buSzPts val="1900"/>
              <a:buFont typeface="Times New Roman"/>
              <a:buChar char="●"/>
            </a:pPr>
            <a:r>
              <a:rPr lang="en-US" sz="1600" dirty="0">
                <a:latin typeface="Times New Roman" panose="02020603050405020304" pitchFamily="18" charset="0"/>
                <a:cs typeface="Times New Roman" panose="02020603050405020304" pitchFamily="18" charset="0"/>
              </a:rPr>
              <a:t>Decentralized identity gives users control over their own data and improves privacy.</a:t>
            </a: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lvl="0" indent="-349250">
              <a:lnSpc>
                <a:spcPct val="150000"/>
              </a:lnSpc>
              <a:spcBef>
                <a:spcPts val="100"/>
              </a:spcBef>
              <a:buClr>
                <a:schemeClr val="dk1"/>
              </a:buClr>
              <a:buSzPts val="1900"/>
              <a:buFont typeface="Times New Roman"/>
              <a:buChar char="●"/>
            </a:pPr>
            <a:r>
              <a:rPr lang="en-US" sz="1600" dirty="0">
                <a:latin typeface="Times New Roman" panose="02020603050405020304" pitchFamily="18" charset="0"/>
                <a:cs typeface="Times New Roman" panose="02020603050405020304" pitchFamily="18" charset="0"/>
              </a:rPr>
              <a:t>This project proposes a secure, privacy-preserving system using selective disclosure and verifiable credentials.</a:t>
            </a: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lvl="0" indent="0" algn="l" rtl="0">
              <a:spcBef>
                <a:spcPts val="100"/>
              </a:spcBef>
              <a:spcAft>
                <a:spcPts val="0"/>
              </a:spcAft>
              <a:buNone/>
            </a:pPr>
            <a:endParaRPr sz="1600" b="1" dirty="0">
              <a:solidFill>
                <a:schemeClr val="dk1"/>
              </a:solidFill>
              <a:latin typeface="Times New Roman"/>
              <a:ea typeface="Times New Roman"/>
              <a:cs typeface="Times New Roman"/>
              <a:sym typeface="Times New Roman"/>
            </a:endParaRPr>
          </a:p>
          <a:p>
            <a:pPr marL="457200" marR="0" lvl="0" indent="0" algn="l" rtl="0">
              <a:lnSpc>
                <a:spcPct val="100000"/>
              </a:lnSpc>
              <a:spcBef>
                <a:spcPts val="100"/>
              </a:spcBef>
              <a:spcAft>
                <a:spcPts val="0"/>
              </a:spcAft>
              <a:buNone/>
            </a:pPr>
            <a:endParaRPr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marL="0" lvl="0" indent="0" rtl="0">
              <a:spcBef>
                <a:spcPts val="0"/>
              </a:spcBef>
              <a:spcAft>
                <a:spcPts val="0"/>
              </a:spcAft>
              <a:buClr>
                <a:schemeClr val="dk1"/>
              </a:buClr>
              <a:buSzPts val="3200"/>
              <a:buFont typeface="Arial"/>
              <a:buNone/>
            </a:pPr>
            <a:r>
              <a:rPr lang="en-US" sz="3200" dirty="0">
                <a:solidFill>
                  <a:schemeClr val="dk1"/>
                </a:solidFill>
                <a:latin typeface="Times New Roman"/>
                <a:ea typeface="Times New Roman"/>
                <a:cs typeface="Times New Roman"/>
                <a:sym typeface="Times New Roman"/>
              </a:rPr>
              <a:t>Problem Statement</a:t>
            </a:r>
            <a:endParaRPr sz="3200" dirty="0">
              <a:solidFill>
                <a:schemeClr val="dk1"/>
              </a:solidFill>
              <a:latin typeface="Times New Roman"/>
              <a:ea typeface="Times New Roman"/>
              <a:cs typeface="Times New Roman"/>
              <a:sym typeface="Times New Roman"/>
            </a:endParaRPr>
          </a:p>
        </p:txBody>
      </p:sp>
      <p:sp>
        <p:nvSpPr>
          <p:cNvPr id="97" name="Google Shape;97;p16"/>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4</a:t>
            </a:fld>
            <a:endParaRPr/>
          </a:p>
        </p:txBody>
      </p:sp>
      <p:sp>
        <p:nvSpPr>
          <p:cNvPr id="98" name="Google Shape;98;p16"/>
          <p:cNvSpPr txBox="1"/>
          <p:nvPr/>
        </p:nvSpPr>
        <p:spPr>
          <a:xfrm>
            <a:off x="165464" y="1219200"/>
            <a:ext cx="8673136" cy="4259852"/>
          </a:xfrm>
          <a:prstGeom prst="rect">
            <a:avLst/>
          </a:prstGeom>
          <a:noFill/>
          <a:ln>
            <a:noFill/>
          </a:ln>
        </p:spPr>
        <p:txBody>
          <a:bodyPr spcFirstLastPara="1" wrap="square" lIns="91425" tIns="45700" rIns="91425" bIns="45700" anchor="t" anchorCtr="0">
            <a:normAutofit/>
          </a:bodyPr>
          <a:lstStyle/>
          <a:p>
            <a:pPr marL="457200" lvl="0" indent="-355600">
              <a:lnSpc>
                <a:spcPct val="150000"/>
              </a:lnSpc>
              <a:spcBef>
                <a:spcPts val="100"/>
              </a:spcBef>
              <a:buClr>
                <a:schemeClr val="dk1"/>
              </a:buClr>
              <a:buSzPts val="2000"/>
              <a:buChar char="●"/>
            </a:pPr>
            <a:r>
              <a:rPr lang="en-US" sz="1600" dirty="0">
                <a:latin typeface="Times New Roman" panose="02020603050405020304" pitchFamily="18" charset="0"/>
                <a:cs typeface="Times New Roman" panose="02020603050405020304" pitchFamily="18" charset="0"/>
              </a:rPr>
              <a:t>Traditional digital identity systems rely on centralized storage, making them highly vulnerable to cyber-attacks and data breaches.</a:t>
            </a:r>
          </a:p>
          <a:p>
            <a:pPr marL="457200" lvl="0" indent="-355600">
              <a:lnSpc>
                <a:spcPct val="150000"/>
              </a:lnSpc>
              <a:buClr>
                <a:schemeClr val="dk1"/>
              </a:buClr>
              <a:buSzPts val="2000"/>
              <a:buChar char="●"/>
            </a:pPr>
            <a:r>
              <a:rPr lang="en-US" sz="1600" dirty="0">
                <a:latin typeface="Times New Roman" panose="02020603050405020304" pitchFamily="18" charset="0"/>
                <a:cs typeface="Times New Roman" panose="02020603050405020304" pitchFamily="18" charset="0"/>
              </a:rPr>
              <a:t>Users are forced to share excessive personal information even for simple verification processes.</a:t>
            </a:r>
            <a:endParaRPr lang="en-US" sz="1600" dirty="0">
              <a:solidFill>
                <a:schemeClr val="dk1"/>
              </a:solidFill>
              <a:latin typeface="Times New Roman" panose="02020603050405020304" pitchFamily="18" charset="0"/>
              <a:cs typeface="Times New Roman" panose="02020603050405020304" pitchFamily="18" charset="0"/>
            </a:endParaRPr>
          </a:p>
          <a:p>
            <a:pPr marL="457200" lvl="0" indent="-355600">
              <a:lnSpc>
                <a:spcPct val="150000"/>
              </a:lnSpc>
              <a:buClr>
                <a:schemeClr val="dk1"/>
              </a:buClr>
              <a:buSzPts val="2000"/>
              <a:buChar char="●"/>
            </a:pPr>
            <a:r>
              <a:rPr lang="en-US" sz="1600" dirty="0">
                <a:latin typeface="Times New Roman" panose="02020603050405020304" pitchFamily="18" charset="0"/>
                <a:cs typeface="Times New Roman" panose="02020603050405020304" pitchFamily="18" charset="0"/>
              </a:rPr>
              <a:t>Lack of user control over personal data leads to privacy violations and misuse of sensitive information.</a:t>
            </a:r>
            <a:endParaRPr lang="en-US" sz="1600" dirty="0">
              <a:solidFill>
                <a:schemeClr val="dk1"/>
              </a:solidFill>
              <a:latin typeface="Times New Roman" panose="02020603050405020304" pitchFamily="18" charset="0"/>
              <a:cs typeface="Times New Roman" panose="02020603050405020304" pitchFamily="18" charset="0"/>
            </a:endParaRPr>
          </a:p>
          <a:p>
            <a:pPr marL="457200" lvl="0" indent="-355600">
              <a:lnSpc>
                <a:spcPct val="150000"/>
              </a:lnSpc>
              <a:buClr>
                <a:schemeClr val="dk1"/>
              </a:buClr>
              <a:buSzPts val="2000"/>
              <a:buChar char="●"/>
            </a:pPr>
            <a:r>
              <a:rPr lang="en-US" sz="1600" dirty="0">
                <a:latin typeface="Times New Roman" panose="02020603050405020304" pitchFamily="18" charset="0"/>
                <a:cs typeface="Times New Roman" panose="02020603050405020304" pitchFamily="18" charset="0"/>
              </a:rPr>
              <a:t>Centralized systems create a single point of failure, risking large-scale identity exposure if compromised.</a:t>
            </a:r>
            <a:endParaRPr sz="1600" dirty="0">
              <a:solidFill>
                <a:schemeClr val="dk1"/>
              </a:solidFill>
              <a:latin typeface="Times New Roman" panose="02020603050405020304" pitchFamily="18" charset="0"/>
              <a:cs typeface="Times New Roman" panose="02020603050405020304" pitchFamily="18" charset="0"/>
            </a:endParaRPr>
          </a:p>
          <a:p>
            <a:pPr marL="457200" lvl="0" indent="-355600">
              <a:lnSpc>
                <a:spcPct val="150000"/>
              </a:lnSpc>
              <a:buClr>
                <a:schemeClr val="dk1"/>
              </a:buClr>
              <a:buSzPts val="2000"/>
              <a:buChar char="●"/>
            </a:pPr>
            <a:r>
              <a:rPr lang="en-US" sz="1600" dirty="0">
                <a:latin typeface="Times New Roman" panose="02020603050405020304" pitchFamily="18" charset="0"/>
                <a:cs typeface="Times New Roman" panose="02020603050405020304" pitchFamily="18" charset="0"/>
              </a:rPr>
              <a:t>Existing systems are prone to identity-based attacks such as phishing, impersonation, and credential reuse.</a:t>
            </a:r>
          </a:p>
          <a:p>
            <a:pPr marL="457200" lvl="0" indent="-355600">
              <a:lnSpc>
                <a:spcPct val="150000"/>
              </a:lnSpc>
              <a:buClr>
                <a:schemeClr val="dk1"/>
              </a:buClr>
              <a:buSzPts val="2000"/>
              <a:buChar char="●"/>
            </a:pPr>
            <a:r>
              <a:rPr lang="en-US" sz="1600" dirty="0">
                <a:latin typeface="Times New Roman" panose="02020603050405020304" pitchFamily="18" charset="0"/>
                <a:cs typeface="Times New Roman" panose="02020603050405020304" pitchFamily="18" charset="0"/>
              </a:rPr>
              <a:t>Poor interoperability and lack of transparency reduce trust and make identity management inefficient.</a:t>
            </a:r>
            <a:endParaRPr sz="160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7"/>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marL="0" lvl="0" indent="0" rtl="0">
              <a:spcBef>
                <a:spcPts val="0"/>
              </a:spcBef>
              <a:spcAft>
                <a:spcPts val="0"/>
              </a:spcAft>
              <a:buClr>
                <a:schemeClr val="dk1"/>
              </a:buClr>
              <a:buSzPts val="3200"/>
              <a:buFont typeface="Arial"/>
              <a:buNone/>
            </a:pPr>
            <a:r>
              <a:rPr lang="en-US" sz="3200" dirty="0">
                <a:solidFill>
                  <a:schemeClr val="dk1"/>
                </a:solidFill>
                <a:latin typeface="Times New Roman"/>
                <a:ea typeface="Times New Roman"/>
                <a:cs typeface="Times New Roman"/>
                <a:sym typeface="Times New Roman"/>
              </a:rPr>
              <a:t>Objectives</a:t>
            </a:r>
            <a:endParaRPr dirty="0"/>
          </a:p>
        </p:txBody>
      </p:sp>
      <p:sp>
        <p:nvSpPr>
          <p:cNvPr id="104" name="Google Shape;104;p17"/>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5</a:t>
            </a:fld>
            <a:endParaRPr/>
          </a:p>
        </p:txBody>
      </p:sp>
      <p:sp>
        <p:nvSpPr>
          <p:cNvPr id="105" name="Google Shape;105;p17"/>
          <p:cNvSpPr txBox="1"/>
          <p:nvPr/>
        </p:nvSpPr>
        <p:spPr>
          <a:xfrm>
            <a:off x="139337" y="1254034"/>
            <a:ext cx="8851971" cy="5000908"/>
          </a:xfrm>
          <a:prstGeom prst="rect">
            <a:avLst/>
          </a:prstGeom>
          <a:noFill/>
          <a:ln>
            <a:noFill/>
          </a:ln>
        </p:spPr>
        <p:txBody>
          <a:bodyPr spcFirstLastPara="1" wrap="square" lIns="91425" tIns="45700" rIns="91425" bIns="45700" anchor="t" anchorCtr="0">
            <a:normAutofit/>
          </a:bodyPr>
          <a:lstStyle/>
          <a:p>
            <a:pPr marL="457200" lvl="0" indent="-355600">
              <a:lnSpc>
                <a:spcPct val="150000"/>
              </a:lnSpc>
              <a:spcBef>
                <a:spcPts val="100"/>
              </a:spcBef>
              <a:buClr>
                <a:schemeClr val="dk1"/>
              </a:buClr>
              <a:buSzPts val="2000"/>
              <a:buChar char="●"/>
            </a:pPr>
            <a:r>
              <a:rPr lang="en-US" sz="1600" dirty="0">
                <a:latin typeface="Times New Roman" panose="02020603050405020304" pitchFamily="18" charset="0"/>
                <a:cs typeface="Times New Roman" panose="02020603050405020304" pitchFamily="18" charset="0"/>
              </a:rPr>
              <a:t>Development of a decentralized digital identity system that removes dependency on centralized authorities.</a:t>
            </a:r>
          </a:p>
          <a:p>
            <a:pPr marL="457200" lvl="0" indent="-355600">
              <a:lnSpc>
                <a:spcPct val="150000"/>
              </a:lnSpc>
              <a:spcBef>
                <a:spcPts val="100"/>
              </a:spcBef>
              <a:buClr>
                <a:schemeClr val="dk1"/>
              </a:buClr>
              <a:buSzPts val="2000"/>
              <a:buChar char="●"/>
            </a:pPr>
            <a:r>
              <a:rPr lang="en-US" sz="1600" dirty="0">
                <a:latin typeface="Times New Roman" panose="02020603050405020304" pitchFamily="18" charset="0"/>
                <a:cs typeface="Times New Roman" panose="02020603050405020304" pitchFamily="18" charset="0"/>
              </a:rPr>
              <a:t>Protection of user privacy through selective disclosure and minimal sharing of personal data.</a:t>
            </a:r>
          </a:p>
          <a:p>
            <a:pPr marL="457200" lvl="0" indent="-355600">
              <a:lnSpc>
                <a:spcPct val="150000"/>
              </a:lnSpc>
              <a:spcBef>
                <a:spcPts val="100"/>
              </a:spcBef>
              <a:buClr>
                <a:schemeClr val="dk1"/>
              </a:buClr>
              <a:buSzPts val="2000"/>
              <a:buChar char="●"/>
            </a:pPr>
            <a:r>
              <a:rPr lang="en-US" sz="1600" dirty="0">
                <a:latin typeface="Times New Roman" panose="02020603050405020304" pitchFamily="18" charset="0"/>
                <a:cs typeface="Times New Roman" panose="02020603050405020304" pitchFamily="18" charset="0"/>
              </a:rPr>
              <a:t>Providing users full control over storage, access, and sharing of their identity information.</a:t>
            </a:r>
          </a:p>
          <a:p>
            <a:pPr marL="457200" lvl="0" indent="-355600">
              <a:lnSpc>
                <a:spcPct val="150000"/>
              </a:lnSpc>
              <a:spcBef>
                <a:spcPts val="100"/>
              </a:spcBef>
              <a:buClr>
                <a:schemeClr val="dk1"/>
              </a:buClr>
              <a:buSzPts val="2000"/>
              <a:buChar char="●"/>
            </a:pPr>
            <a:r>
              <a:rPr lang="en-US" sz="1600" dirty="0">
                <a:latin typeface="Times New Roman" panose="02020603050405020304" pitchFamily="18" charset="0"/>
                <a:cs typeface="Times New Roman" panose="02020603050405020304" pitchFamily="18" charset="0"/>
              </a:rPr>
              <a:t>Implementation of secure and reliable verification using advanced cryptographic techniques.</a:t>
            </a:r>
          </a:p>
          <a:p>
            <a:pPr marL="457200" lvl="0" indent="-355600">
              <a:lnSpc>
                <a:spcPct val="150000"/>
              </a:lnSpc>
              <a:spcBef>
                <a:spcPts val="100"/>
              </a:spcBef>
              <a:buClr>
                <a:schemeClr val="dk1"/>
              </a:buClr>
              <a:buSzPts val="2000"/>
              <a:buChar char="●"/>
            </a:pPr>
            <a:r>
              <a:rPr lang="en-US" sz="1600" dirty="0">
                <a:latin typeface="Times New Roman" panose="02020603050405020304" pitchFamily="18" charset="0"/>
                <a:cs typeface="Times New Roman" panose="02020603050405020304" pitchFamily="18" charset="0"/>
              </a:rPr>
              <a:t>Reduction of risks such as data breaches, identity theft, and unauthorized access.</a:t>
            </a:r>
          </a:p>
          <a:p>
            <a:pPr marL="457200" lvl="0" indent="-355600">
              <a:lnSpc>
                <a:spcPct val="150000"/>
              </a:lnSpc>
              <a:spcBef>
                <a:spcPts val="100"/>
              </a:spcBef>
              <a:buClr>
                <a:schemeClr val="dk1"/>
              </a:buClr>
              <a:buSzPts val="2000"/>
              <a:buChar char="●"/>
            </a:pPr>
            <a:r>
              <a:rPr lang="en-US" sz="1600" dirty="0">
                <a:latin typeface="Times New Roman" panose="02020603050405020304" pitchFamily="18" charset="0"/>
                <a:cs typeface="Times New Roman" panose="02020603050405020304" pitchFamily="18" charset="0"/>
              </a:rPr>
              <a:t>Ensuring scalability and interoperability for use across domains like banking, healthcare, and e-governance.</a:t>
            </a:r>
            <a:endParaRPr sz="160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200"/>
              <a:buFont typeface="Arial"/>
              <a:buNone/>
            </a:pPr>
            <a:r>
              <a:rPr lang="en-US" sz="3200" b="0" i="0" u="none" strike="noStrike" cap="none" dirty="0">
                <a:solidFill>
                  <a:schemeClr val="dk1"/>
                </a:solidFill>
                <a:latin typeface="Times New Roman"/>
                <a:ea typeface="Times New Roman"/>
                <a:cs typeface="Times New Roman"/>
                <a:sym typeface="Times New Roman"/>
              </a:rPr>
              <a:t>Related Work</a:t>
            </a:r>
            <a:endParaRPr dirty="0"/>
          </a:p>
        </p:txBody>
      </p:sp>
      <p:sp>
        <p:nvSpPr>
          <p:cNvPr id="111" name="Google Shape;111;p18"/>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6</a:t>
            </a:fld>
            <a:endParaRPr/>
          </a:p>
        </p:txBody>
      </p:sp>
      <p:sp>
        <p:nvSpPr>
          <p:cNvPr id="112" name="Google Shape;112;p18"/>
          <p:cNvSpPr txBox="1"/>
          <p:nvPr/>
        </p:nvSpPr>
        <p:spPr>
          <a:xfrm>
            <a:off x="216008" y="1009654"/>
            <a:ext cx="8838600" cy="4838700"/>
          </a:xfrm>
          <a:prstGeom prst="rect">
            <a:avLst/>
          </a:prstGeom>
          <a:noFill/>
          <a:ln>
            <a:noFill/>
          </a:ln>
        </p:spPr>
        <p:txBody>
          <a:bodyPr spcFirstLastPara="1" wrap="square" lIns="91425" tIns="45700" rIns="91425" bIns="45700" anchor="t" anchorCtr="0">
            <a:normAutofit fontScale="85000" lnSpcReduction="20000"/>
          </a:bodyPr>
          <a:lstStyle/>
          <a:p>
            <a:pPr marL="457200" lvl="0" indent="-349250">
              <a:lnSpc>
                <a:spcPct val="170000"/>
              </a:lnSpc>
              <a:spcBef>
                <a:spcPts val="100"/>
              </a:spcBef>
              <a:buSzPts val="1700"/>
              <a:buFont typeface="Times New Roman"/>
              <a:buChar char="●"/>
            </a:pPr>
            <a:r>
              <a:rPr lang="en-IN" sz="1900" b="1" dirty="0">
                <a:latin typeface="Times New Roman" panose="02020603050405020304" pitchFamily="18" charset="0"/>
                <a:cs typeface="Times New Roman" panose="02020603050405020304" pitchFamily="18" charset="0"/>
              </a:rPr>
              <a:t>Centralized Identity Systems</a:t>
            </a:r>
            <a:endParaRPr sz="1900" b="1" dirty="0">
              <a:latin typeface="Times New Roman" panose="02020603050405020304" pitchFamily="18" charset="0"/>
              <a:cs typeface="Times New Roman" panose="02020603050405020304" pitchFamily="18" charset="0"/>
            </a:endParaRPr>
          </a:p>
          <a:p>
            <a:pPr marL="914400" lvl="1" indent="-330200">
              <a:lnSpc>
                <a:spcPct val="150000"/>
              </a:lnSpc>
              <a:spcBef>
                <a:spcPts val="100"/>
              </a:spcBef>
              <a:buSzPts val="1600"/>
              <a:buFont typeface="Times New Roman"/>
              <a:buChar char="○"/>
            </a:pPr>
            <a:r>
              <a:rPr lang="en-US" sz="1500" dirty="0">
                <a:latin typeface="Times New Roman" panose="02020603050405020304" pitchFamily="18" charset="0"/>
                <a:cs typeface="Times New Roman" panose="02020603050405020304" pitchFamily="18" charset="0"/>
              </a:rPr>
              <a:t>Store user identity data in centralized databases managed by authorities</a:t>
            </a:r>
            <a:endParaRPr sz="1500" dirty="0">
              <a:latin typeface="Times New Roman" panose="02020603050405020304" pitchFamily="18" charset="0"/>
              <a:cs typeface="Times New Roman" panose="02020603050405020304" pitchFamily="18" charset="0"/>
            </a:endParaRPr>
          </a:p>
          <a:p>
            <a:pPr marL="914400" lvl="1" indent="-330200">
              <a:lnSpc>
                <a:spcPct val="150000"/>
              </a:lnSpc>
              <a:spcBef>
                <a:spcPts val="100"/>
              </a:spcBef>
              <a:buSzPts val="1600"/>
              <a:buFont typeface="Times New Roman"/>
              <a:buChar char="○"/>
            </a:pPr>
            <a:r>
              <a:rPr lang="en-US" sz="1500" dirty="0">
                <a:latin typeface="Times New Roman" panose="02020603050405020304" pitchFamily="18" charset="0"/>
                <a:cs typeface="Times New Roman" panose="02020603050405020304" pitchFamily="18" charset="0"/>
              </a:rPr>
              <a:t>Widely used in banking, healthcare, and e-governance systems</a:t>
            </a:r>
            <a:endParaRPr sz="1500" dirty="0">
              <a:latin typeface="Times New Roman" panose="02020603050405020304" pitchFamily="18" charset="0"/>
              <a:cs typeface="Times New Roman" panose="02020603050405020304" pitchFamily="18" charset="0"/>
            </a:endParaRPr>
          </a:p>
          <a:p>
            <a:pPr marL="914400" lvl="1" indent="-330200">
              <a:lnSpc>
                <a:spcPct val="150000"/>
              </a:lnSpc>
              <a:spcBef>
                <a:spcPts val="100"/>
              </a:spcBef>
              <a:buSzPts val="1600"/>
              <a:buFont typeface="Times New Roman"/>
              <a:buChar char="○"/>
            </a:pPr>
            <a:r>
              <a:rPr lang="en-US" sz="1500" dirty="0">
                <a:latin typeface="Times New Roman" panose="02020603050405020304" pitchFamily="18" charset="0"/>
                <a:cs typeface="Times New Roman" panose="02020603050405020304" pitchFamily="18" charset="0"/>
              </a:rPr>
              <a:t>Easy to implement and manage for authentication purposes</a:t>
            </a:r>
            <a:endParaRPr sz="1500" dirty="0">
              <a:latin typeface="Times New Roman" panose="02020603050405020304" pitchFamily="18" charset="0"/>
              <a:cs typeface="Times New Roman" panose="02020603050405020304" pitchFamily="18" charset="0"/>
            </a:endParaRPr>
          </a:p>
          <a:p>
            <a:pPr marL="914400" lvl="1" indent="-330200">
              <a:lnSpc>
                <a:spcPct val="150000"/>
              </a:lnSpc>
              <a:spcBef>
                <a:spcPts val="100"/>
              </a:spcBef>
              <a:buSzPts val="1600"/>
              <a:buFont typeface="Times New Roman"/>
              <a:buChar char="○"/>
            </a:pPr>
            <a:r>
              <a:rPr lang="en-US" sz="15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Limitation: </a:t>
            </a:r>
            <a:r>
              <a:rPr lang="en-US" sz="1500" dirty="0">
                <a:latin typeface="Times New Roman" panose="02020603050405020304" pitchFamily="18" charset="0"/>
                <a:cs typeface="Times New Roman" panose="02020603050405020304" pitchFamily="18" charset="0"/>
              </a:rPr>
              <a:t>Single point of failure and high risk of data breaches</a:t>
            </a:r>
          </a:p>
          <a:p>
            <a:pPr marL="584200" lvl="1">
              <a:lnSpc>
                <a:spcPct val="150000"/>
              </a:lnSpc>
              <a:spcBef>
                <a:spcPts val="100"/>
              </a:spcBef>
              <a:buSzPts val="1600"/>
            </a:pPr>
            <a:endParaRPr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457200" lvl="0" indent="-349250">
              <a:lnSpc>
                <a:spcPct val="150000"/>
              </a:lnSpc>
              <a:spcBef>
                <a:spcPts val="100"/>
              </a:spcBef>
              <a:buSzPts val="1700"/>
              <a:buFont typeface="Times New Roman"/>
              <a:buChar char="●"/>
            </a:pPr>
            <a:r>
              <a:rPr lang="en-IN" sz="1900" b="1" dirty="0">
                <a:latin typeface="Times New Roman" panose="02020603050405020304" pitchFamily="18" charset="0"/>
                <a:cs typeface="Times New Roman" panose="02020603050405020304" pitchFamily="18" charset="0"/>
              </a:rPr>
              <a:t>Decentralized Identity &amp; Blockchain Solutions</a:t>
            </a:r>
            <a:endParaRPr sz="1900" b="1" dirty="0">
              <a:latin typeface="Times New Roman" panose="02020603050405020304" pitchFamily="18" charset="0"/>
              <a:cs typeface="Times New Roman" panose="02020603050405020304" pitchFamily="18" charset="0"/>
            </a:endParaRPr>
          </a:p>
          <a:p>
            <a:pPr marL="914400" lvl="1" indent="-330200">
              <a:lnSpc>
                <a:spcPct val="150000"/>
              </a:lnSpc>
              <a:spcBef>
                <a:spcPts val="100"/>
              </a:spcBef>
              <a:buSzPts val="1600"/>
              <a:buFont typeface="Times New Roman"/>
              <a:buChar char="○"/>
            </a:pPr>
            <a:r>
              <a:rPr lang="en-US" sz="1500" dirty="0">
                <a:latin typeface="Times New Roman" panose="02020603050405020304" pitchFamily="18" charset="0"/>
                <a:cs typeface="Times New Roman" panose="02020603050405020304" pitchFamily="18" charset="0"/>
              </a:rPr>
              <a:t>Use blockchain to remove dependency on central authorities and Technologies include Decentralized Identifiers and VCs</a:t>
            </a:r>
          </a:p>
          <a:p>
            <a:pPr marL="914400" lvl="1" indent="-330200">
              <a:lnSpc>
                <a:spcPct val="150000"/>
              </a:lnSpc>
              <a:spcBef>
                <a:spcPts val="100"/>
              </a:spcBef>
              <a:buSzPts val="1600"/>
              <a:buFont typeface="Times New Roman"/>
              <a:buChar char="○"/>
            </a:pPr>
            <a:r>
              <a:rPr lang="en-US" sz="1500" dirty="0">
                <a:latin typeface="Times New Roman" panose="02020603050405020304" pitchFamily="18" charset="0"/>
                <a:cs typeface="Times New Roman" panose="02020603050405020304" pitchFamily="18" charset="0"/>
              </a:rPr>
              <a:t>Limitation: High complexity, scalability challenges, and performance overhead</a:t>
            </a:r>
          </a:p>
          <a:p>
            <a:pPr marL="584200" lvl="1">
              <a:lnSpc>
                <a:spcPct val="150000"/>
              </a:lnSpc>
              <a:spcBef>
                <a:spcPts val="100"/>
              </a:spcBef>
              <a:buSzPts val="1600"/>
            </a:pPr>
            <a:endParaRPr lang="en-US"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457200" lvl="0" indent="-342900">
              <a:lnSpc>
                <a:spcPct val="150000"/>
              </a:lnSpc>
              <a:spcBef>
                <a:spcPts val="100"/>
              </a:spcBef>
              <a:buSzPts val="1600"/>
              <a:buFont typeface="Times New Roman"/>
              <a:buChar char="●"/>
            </a:pPr>
            <a:r>
              <a:rPr lang="en-IN" sz="1900" b="1" dirty="0">
                <a:latin typeface="Times New Roman" panose="02020603050405020304" pitchFamily="18" charset="0"/>
                <a:cs typeface="Times New Roman" panose="02020603050405020304" pitchFamily="18" charset="0"/>
              </a:rPr>
              <a:t>Privacy-Preserving Authentication Techniques</a:t>
            </a:r>
            <a:br>
              <a:rPr lang="en-US" sz="1600" dirty="0"/>
            </a:br>
            <a:r>
              <a:rPr lang="en-US" sz="1800" dirty="0"/>
              <a:t> </a:t>
            </a:r>
            <a:r>
              <a:rPr lang="en-US"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Zero-Knowledge Proofs (ZKPs) enable verification without revealing actual data</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 ○      Improve privacy and reduce unnecessary data exposure</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 ○      Limitation: Computationally expensive and difficult to implement</a:t>
            </a:r>
            <a:br>
              <a:rPr lang="en-IN" sz="1800" dirty="0"/>
            </a:br>
            <a:r>
              <a:rPr lang="en-IN" sz="1800" dirty="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p:nvPr/>
        </p:nvSpPr>
        <p:spPr>
          <a:xfrm>
            <a:off x="457200" y="0"/>
            <a:ext cx="6019500" cy="801189"/>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200"/>
              <a:buFont typeface="Arial"/>
              <a:buNone/>
            </a:pPr>
            <a:r>
              <a:rPr lang="en-US" sz="3200" b="0" i="0" u="none" strike="noStrike" cap="none" dirty="0">
                <a:solidFill>
                  <a:schemeClr val="dk1"/>
                </a:solidFill>
                <a:latin typeface="Times New Roman"/>
                <a:ea typeface="Times New Roman"/>
                <a:cs typeface="Times New Roman"/>
                <a:sym typeface="Times New Roman"/>
              </a:rPr>
              <a:t>System Architecture &amp; Methodology</a:t>
            </a:r>
            <a:endParaRPr dirty="0"/>
          </a:p>
        </p:txBody>
      </p:sp>
      <p:sp>
        <p:nvSpPr>
          <p:cNvPr id="118" name="Google Shape;118;p19"/>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7</a:t>
            </a:fld>
            <a:endParaRPr/>
          </a:p>
        </p:txBody>
      </p:sp>
      <p:sp>
        <p:nvSpPr>
          <p:cNvPr id="119" name="Google Shape;119;p19"/>
          <p:cNvSpPr txBox="1"/>
          <p:nvPr/>
        </p:nvSpPr>
        <p:spPr>
          <a:xfrm>
            <a:off x="152708" y="1301292"/>
            <a:ext cx="8838600" cy="48387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1400"/>
              <a:buFont typeface="Arial"/>
              <a:buNone/>
            </a:pPr>
            <a:endParaRPr lang="en-IN" b="0" i="0" u="none" strike="noStrike" cap="none" dirty="0">
              <a:solidFill>
                <a:srgbClr val="000000"/>
              </a:solidFill>
              <a:latin typeface="Arial"/>
              <a:ea typeface="Arial"/>
              <a:cs typeface="Arial"/>
              <a:sym typeface="Arial"/>
            </a:endParaRPr>
          </a:p>
          <a:p>
            <a:pPr marL="457200" lvl="0">
              <a:lnSpc>
                <a:spcPct val="150000"/>
              </a:lnSpc>
              <a:spcBef>
                <a:spcPts val="100"/>
              </a:spcBef>
            </a:pPr>
            <a:r>
              <a:rPr lang="en-IN" sz="1600" b="1" dirty="0">
                <a:latin typeface="Times New Roman" panose="02020603050405020304" pitchFamily="18" charset="0"/>
                <a:cs typeface="Times New Roman" panose="02020603050405020304" pitchFamily="18" charset="0"/>
              </a:rPr>
              <a:t>User → Issuer → DID Registry (Blockchain) → Verifiable Credentials → Verifier → Authentication (Selective Disclosure)</a:t>
            </a:r>
            <a:br>
              <a:rPr lang="en-US" sz="1600" b="1" dirty="0">
                <a:latin typeface="Times New Roman"/>
                <a:ea typeface="Times New Roman"/>
                <a:cs typeface="Times New Roman"/>
                <a:sym typeface="Times New Roman"/>
              </a:rPr>
            </a:br>
            <a:br>
              <a:rPr lang="en-US" sz="1600" b="1" dirty="0">
                <a:latin typeface="Times New Roman"/>
                <a:ea typeface="Times New Roman"/>
                <a:cs typeface="Times New Roman"/>
                <a:sym typeface="Times New Roman"/>
              </a:rPr>
            </a:br>
            <a:r>
              <a:rPr lang="en-US" sz="1800" b="1" dirty="0">
                <a:solidFill>
                  <a:schemeClr val="dk1"/>
                </a:solidFill>
                <a:latin typeface="Times New Roman" panose="02020603050405020304" pitchFamily="18" charset="0"/>
                <a:cs typeface="Times New Roman" panose="02020603050405020304" pitchFamily="18" charset="0"/>
              </a:rPr>
              <a:t>Modules</a:t>
            </a:r>
            <a:r>
              <a:rPr lang="en-US" sz="2000" b="1" dirty="0">
                <a:solidFill>
                  <a:schemeClr val="dk1"/>
                </a:solidFill>
              </a:rPr>
              <a:t>:</a:t>
            </a:r>
            <a:endParaRPr sz="2000" b="1" dirty="0">
              <a:solidFill>
                <a:schemeClr val="dk1"/>
              </a:solidFill>
            </a:endParaRPr>
          </a:p>
          <a:p>
            <a:pPr marL="457200" lvl="0" indent="-342900">
              <a:lnSpc>
                <a:spcPct val="150000"/>
              </a:lnSpc>
              <a:spcBef>
                <a:spcPts val="1200"/>
              </a:spcBef>
              <a:buClr>
                <a:schemeClr val="dk1"/>
              </a:buClr>
              <a:buSzPts val="1800"/>
              <a:buChar char="●"/>
            </a:pPr>
            <a:r>
              <a:rPr lang="en-US" sz="1500" b="1" dirty="0">
                <a:latin typeface="Times New Roman" panose="02020603050405020304" pitchFamily="18" charset="0"/>
                <a:cs typeface="Times New Roman" panose="02020603050405020304" pitchFamily="18" charset="0"/>
              </a:rPr>
              <a:t>User:</a:t>
            </a:r>
            <a:r>
              <a:rPr lang="en-US" sz="1500" dirty="0">
                <a:latin typeface="Times New Roman" panose="02020603050405020304" pitchFamily="18" charset="0"/>
                <a:cs typeface="Times New Roman" panose="02020603050405020304" pitchFamily="18" charset="0"/>
              </a:rPr>
              <a:t> Registers, creates decentralized identity, and stores credentials securely.</a:t>
            </a:r>
            <a:endParaRPr sz="1500" dirty="0">
              <a:solidFill>
                <a:schemeClr val="dk1"/>
              </a:solidFill>
              <a:latin typeface="Times New Roman" panose="02020603050405020304" pitchFamily="18" charset="0"/>
              <a:cs typeface="Times New Roman" panose="02020603050405020304" pitchFamily="18" charset="0"/>
            </a:endParaRPr>
          </a:p>
          <a:p>
            <a:pPr marL="457200" lvl="0" indent="-342900">
              <a:lnSpc>
                <a:spcPct val="150000"/>
              </a:lnSpc>
              <a:buClr>
                <a:schemeClr val="dk1"/>
              </a:buClr>
              <a:buSzPts val="1800"/>
              <a:buChar char="●"/>
            </a:pPr>
            <a:r>
              <a:rPr lang="en-US" sz="1500" b="1" dirty="0">
                <a:latin typeface="Times New Roman" panose="02020603050405020304" pitchFamily="18" charset="0"/>
                <a:cs typeface="Times New Roman" panose="02020603050405020304" pitchFamily="18" charset="0"/>
              </a:rPr>
              <a:t>Issuer:</a:t>
            </a:r>
            <a:r>
              <a:rPr lang="en-US" sz="1500" dirty="0">
                <a:latin typeface="Times New Roman" panose="02020603050405020304" pitchFamily="18" charset="0"/>
                <a:cs typeface="Times New Roman" panose="02020603050405020304" pitchFamily="18" charset="0"/>
              </a:rPr>
              <a:t> Verifies user information and issues verifiable credentials.</a:t>
            </a:r>
          </a:p>
          <a:p>
            <a:pPr marL="457200" lvl="0" indent="-342900">
              <a:lnSpc>
                <a:spcPct val="150000"/>
              </a:lnSpc>
              <a:buClr>
                <a:schemeClr val="dk1"/>
              </a:buClr>
              <a:buSzPts val="1800"/>
              <a:buChar char="●"/>
            </a:pPr>
            <a:r>
              <a:rPr lang="en-US" sz="1500" b="1" dirty="0">
                <a:latin typeface="Times New Roman" panose="02020603050405020304" pitchFamily="18" charset="0"/>
                <a:cs typeface="Times New Roman" panose="02020603050405020304" pitchFamily="18" charset="0"/>
              </a:rPr>
              <a:t>DID Registry (Blockchain):</a:t>
            </a:r>
            <a:r>
              <a:rPr lang="en-US" sz="1500" dirty="0">
                <a:latin typeface="Times New Roman" panose="02020603050405020304" pitchFamily="18" charset="0"/>
                <a:cs typeface="Times New Roman" panose="02020603050405020304" pitchFamily="18" charset="0"/>
              </a:rPr>
              <a:t> Stores decentralized identifiers and public keys securely.</a:t>
            </a:r>
          </a:p>
          <a:p>
            <a:pPr marL="457200" lvl="0" indent="-342900">
              <a:lnSpc>
                <a:spcPct val="150000"/>
              </a:lnSpc>
              <a:buClr>
                <a:schemeClr val="dk1"/>
              </a:buClr>
              <a:buSzPts val="1800"/>
              <a:buChar char="●"/>
            </a:pPr>
            <a:r>
              <a:rPr lang="en-US" sz="1500" b="1" dirty="0">
                <a:latin typeface="Times New Roman" panose="02020603050405020304" pitchFamily="18" charset="0"/>
                <a:cs typeface="Times New Roman" panose="02020603050405020304" pitchFamily="18" charset="0"/>
              </a:rPr>
              <a:t>Verifiable Credentials:</a:t>
            </a:r>
            <a:r>
              <a:rPr lang="en-US" sz="1500" dirty="0">
                <a:latin typeface="Times New Roman" panose="02020603050405020304" pitchFamily="18" charset="0"/>
                <a:cs typeface="Times New Roman" panose="02020603050405020304" pitchFamily="18" charset="0"/>
              </a:rPr>
              <a:t> Digitally signed credentials owned and controlled by the user.</a:t>
            </a:r>
          </a:p>
          <a:p>
            <a:pPr marL="457200" lvl="0" indent="-342900">
              <a:lnSpc>
                <a:spcPct val="150000"/>
              </a:lnSpc>
              <a:buClr>
                <a:schemeClr val="dk1"/>
              </a:buClr>
              <a:buSzPts val="1800"/>
              <a:buChar char="●"/>
            </a:pPr>
            <a:r>
              <a:rPr lang="en-US" sz="1500" b="1" dirty="0">
                <a:latin typeface="Times New Roman" panose="02020603050405020304" pitchFamily="18" charset="0"/>
                <a:cs typeface="Times New Roman" panose="02020603050405020304" pitchFamily="18" charset="0"/>
              </a:rPr>
              <a:t>Verifier:</a:t>
            </a:r>
            <a:r>
              <a:rPr lang="en-US" sz="1500" dirty="0">
                <a:latin typeface="Times New Roman" panose="02020603050405020304" pitchFamily="18" charset="0"/>
                <a:cs typeface="Times New Roman" panose="02020603050405020304" pitchFamily="18" charset="0"/>
              </a:rPr>
              <a:t> Requests and validates credentials without accessing full identity data.</a:t>
            </a:r>
          </a:p>
          <a:p>
            <a:pPr marL="457200" lvl="0" indent="-342900">
              <a:lnSpc>
                <a:spcPct val="150000"/>
              </a:lnSpc>
              <a:buClr>
                <a:schemeClr val="dk1"/>
              </a:buClr>
              <a:buSzPts val="1800"/>
              <a:buChar char="●"/>
            </a:pPr>
            <a:r>
              <a:rPr lang="en-US" sz="1500" b="1" dirty="0">
                <a:latin typeface="Times New Roman" panose="02020603050405020304" pitchFamily="18" charset="0"/>
                <a:cs typeface="Times New Roman" panose="02020603050405020304" pitchFamily="18" charset="0"/>
              </a:rPr>
              <a:t>Authentication (Selective Disclosure):</a:t>
            </a:r>
            <a:r>
              <a:rPr lang="en-US" sz="1500" dirty="0">
                <a:latin typeface="Times New Roman" panose="02020603050405020304" pitchFamily="18" charset="0"/>
                <a:cs typeface="Times New Roman" panose="02020603050405020304" pitchFamily="18" charset="0"/>
              </a:rPr>
              <a:t> Shares only required information for verification while preserving privacy.</a:t>
            </a:r>
            <a:endParaRPr sz="1500" b="1"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Times New Roman"/>
                <a:ea typeface="Times New Roman"/>
                <a:cs typeface="Times New Roman"/>
                <a:sym typeface="Times New Roman"/>
              </a:rPr>
              <a:t>System Architecture &amp; Methodology</a:t>
            </a:r>
            <a:endParaRPr/>
          </a:p>
        </p:txBody>
      </p:sp>
      <p:sp>
        <p:nvSpPr>
          <p:cNvPr id="125" name="Google Shape;125;p20"/>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8</a:t>
            </a:fld>
            <a:endParaRPr/>
          </a:p>
        </p:txBody>
      </p:sp>
      <p:sp>
        <p:nvSpPr>
          <p:cNvPr id="126" name="Google Shape;126;p20"/>
          <p:cNvSpPr txBox="1"/>
          <p:nvPr/>
        </p:nvSpPr>
        <p:spPr>
          <a:xfrm>
            <a:off x="305408" y="1177717"/>
            <a:ext cx="8838600" cy="4838700"/>
          </a:xfrm>
          <a:prstGeom prst="rect">
            <a:avLst/>
          </a:prstGeom>
          <a:noFill/>
          <a:ln>
            <a:noFill/>
          </a:ln>
        </p:spPr>
        <p:txBody>
          <a:bodyPr spcFirstLastPara="1" wrap="square" lIns="91425" tIns="45700" rIns="91425" bIns="45700" anchor="t" anchorCtr="0">
            <a:normAutofit fontScale="92500" lnSpcReduction="20000"/>
          </a:bodyPr>
          <a:lstStyle/>
          <a:p>
            <a:pPr lvl="0" algn="just">
              <a:lnSpc>
                <a:spcPct val="160000"/>
              </a:lnSpc>
              <a:spcBef>
                <a:spcPts val="1800"/>
              </a:spcBef>
            </a:pPr>
            <a:r>
              <a:rPr lang="en-US" sz="1700" b="1" dirty="0">
                <a:solidFill>
                  <a:schemeClr val="dk1"/>
                </a:solidFill>
                <a:latin typeface="Times New Roman" panose="02020603050405020304" pitchFamily="18" charset="0"/>
                <a:cs typeface="Times New Roman" panose="02020603050405020304" pitchFamily="18" charset="0"/>
              </a:rPr>
              <a:t>Phase 1: </a:t>
            </a:r>
            <a:r>
              <a:rPr lang="en-IN" sz="1700" b="1" dirty="0">
                <a:latin typeface="Times New Roman" panose="02020603050405020304" pitchFamily="18" charset="0"/>
                <a:cs typeface="Times New Roman" panose="02020603050405020304" pitchFamily="18" charset="0"/>
              </a:rPr>
              <a:t>Credential Issuance</a:t>
            </a:r>
            <a:endParaRPr sz="1700" b="1" dirty="0">
              <a:solidFill>
                <a:schemeClr val="dk1"/>
              </a:solidFill>
              <a:latin typeface="Times New Roman" panose="02020603050405020304" pitchFamily="18" charset="0"/>
              <a:cs typeface="Times New Roman" panose="02020603050405020304" pitchFamily="18" charset="0"/>
            </a:endParaRPr>
          </a:p>
          <a:p>
            <a:pPr marL="457200" lvl="0" indent="-323850" algn="just">
              <a:lnSpc>
                <a:spcPct val="160000"/>
              </a:lnSpc>
              <a:buClr>
                <a:schemeClr val="dk1"/>
              </a:buClr>
              <a:buSzPts val="1500"/>
              <a:buChar char="●"/>
            </a:pPr>
            <a:r>
              <a:rPr lang="en-US" sz="1500" dirty="0">
                <a:latin typeface="Times New Roman" panose="02020603050405020304" pitchFamily="18" charset="0"/>
                <a:cs typeface="Times New Roman" panose="02020603050405020304" pitchFamily="18" charset="0"/>
              </a:rPr>
              <a:t>User generates a Decentralized Identifier (DID) on the blockchain.</a:t>
            </a:r>
            <a:endParaRPr lang="en-US" sz="1500" dirty="0">
              <a:solidFill>
                <a:schemeClr val="dk1"/>
              </a:solidFill>
              <a:latin typeface="Times New Roman" panose="02020603050405020304" pitchFamily="18" charset="0"/>
              <a:cs typeface="Times New Roman" panose="02020603050405020304" pitchFamily="18" charset="0"/>
            </a:endParaRPr>
          </a:p>
          <a:p>
            <a:pPr marL="457200" lvl="0" indent="-323850" algn="just">
              <a:lnSpc>
                <a:spcPct val="160000"/>
              </a:lnSpc>
              <a:buClr>
                <a:schemeClr val="dk1"/>
              </a:buClr>
              <a:buSzPts val="1500"/>
              <a:buChar char="●"/>
            </a:pPr>
            <a:r>
              <a:rPr lang="en-US" sz="1500" dirty="0">
                <a:latin typeface="Times New Roman" panose="02020603050405020304" pitchFamily="18" charset="0"/>
                <a:cs typeface="Times New Roman" panose="02020603050405020304" pitchFamily="18" charset="0"/>
              </a:rPr>
              <a:t>Trusted issuer validates user information and signs credentials.</a:t>
            </a:r>
          </a:p>
          <a:p>
            <a:pPr marL="457200" lvl="0" indent="-323850" algn="just">
              <a:lnSpc>
                <a:spcPct val="160000"/>
              </a:lnSpc>
              <a:buClr>
                <a:schemeClr val="dk1"/>
              </a:buClr>
              <a:buSzPts val="1500"/>
              <a:buChar char="●"/>
            </a:pPr>
            <a:r>
              <a:rPr lang="en-US" sz="1500" dirty="0">
                <a:latin typeface="Times New Roman" panose="02020603050405020304" pitchFamily="18" charset="0"/>
                <a:cs typeface="Times New Roman" panose="02020603050405020304" pitchFamily="18" charset="0"/>
              </a:rPr>
              <a:t>Verifiable credentials stored encrypted on user's device.</a:t>
            </a:r>
            <a:endParaRPr lang="en-US" sz="1500" dirty="0">
              <a:solidFill>
                <a:schemeClr val="dk1"/>
              </a:solidFill>
              <a:latin typeface="Times New Roman" panose="02020603050405020304" pitchFamily="18" charset="0"/>
              <a:cs typeface="Times New Roman" panose="02020603050405020304" pitchFamily="18" charset="0"/>
            </a:endParaRPr>
          </a:p>
          <a:p>
            <a:pPr lvl="0" algn="just">
              <a:lnSpc>
                <a:spcPct val="160000"/>
              </a:lnSpc>
              <a:spcBef>
                <a:spcPts val="1800"/>
              </a:spcBef>
            </a:pPr>
            <a:r>
              <a:rPr lang="en-US" sz="1700" b="1" dirty="0">
                <a:solidFill>
                  <a:schemeClr val="dk1"/>
                </a:solidFill>
                <a:latin typeface="Times New Roman" panose="02020603050405020304" pitchFamily="18" charset="0"/>
                <a:cs typeface="Times New Roman" panose="02020603050405020304" pitchFamily="18" charset="0"/>
              </a:rPr>
              <a:t>Phase 2: </a:t>
            </a:r>
            <a:r>
              <a:rPr lang="en-IN" sz="1700" b="1" dirty="0">
                <a:latin typeface="Times New Roman" panose="02020603050405020304" pitchFamily="18" charset="0"/>
                <a:cs typeface="Times New Roman" panose="02020603050405020304" pitchFamily="18" charset="0"/>
              </a:rPr>
              <a:t>Selective Disclosure</a:t>
            </a:r>
            <a:endParaRPr sz="1700" b="1" dirty="0">
              <a:solidFill>
                <a:schemeClr val="dk1"/>
              </a:solidFill>
              <a:latin typeface="Times New Roman" panose="02020603050405020304" pitchFamily="18" charset="0"/>
              <a:cs typeface="Times New Roman" panose="02020603050405020304" pitchFamily="18" charset="0"/>
            </a:endParaRPr>
          </a:p>
          <a:p>
            <a:pPr marL="457200" lvl="0" indent="-323850" algn="just">
              <a:lnSpc>
                <a:spcPct val="160000"/>
              </a:lnSpc>
              <a:spcBef>
                <a:spcPts val="1200"/>
              </a:spcBef>
              <a:buClr>
                <a:schemeClr val="dk1"/>
              </a:buClr>
              <a:buSzPts val="1500"/>
              <a:buChar char="●"/>
            </a:pPr>
            <a:r>
              <a:rPr lang="en-US" sz="1500" dirty="0">
                <a:latin typeface="Times New Roman" panose="02020603050405020304" pitchFamily="18" charset="0"/>
                <a:cs typeface="Times New Roman" panose="02020603050405020304" pitchFamily="18" charset="0"/>
              </a:rPr>
              <a:t>User selects minimum required attributes for a service request.</a:t>
            </a:r>
            <a:endParaRPr sz="1500" dirty="0">
              <a:solidFill>
                <a:schemeClr val="dk1"/>
              </a:solidFill>
              <a:latin typeface="Times New Roman" panose="02020603050405020304" pitchFamily="18" charset="0"/>
              <a:cs typeface="Times New Roman" panose="02020603050405020304" pitchFamily="18" charset="0"/>
            </a:endParaRPr>
          </a:p>
          <a:p>
            <a:pPr marL="457200" lvl="0" indent="-323850" algn="just">
              <a:lnSpc>
                <a:spcPct val="160000"/>
              </a:lnSpc>
              <a:buClr>
                <a:schemeClr val="dk1"/>
              </a:buClr>
              <a:buSzPts val="1500"/>
              <a:buChar char="●"/>
            </a:pPr>
            <a:r>
              <a:rPr lang="en-US" sz="1500" dirty="0">
                <a:latin typeface="Times New Roman" panose="02020603050405020304" pitchFamily="18" charset="0"/>
                <a:cs typeface="Times New Roman" panose="02020603050405020304" pitchFamily="18" charset="0"/>
              </a:rPr>
              <a:t>Cryptographic signatures ensure integrity of shared attributes.</a:t>
            </a:r>
            <a:endParaRPr sz="1500" dirty="0">
              <a:solidFill>
                <a:schemeClr val="dk1"/>
              </a:solidFill>
              <a:latin typeface="Times New Roman" panose="02020603050405020304" pitchFamily="18" charset="0"/>
              <a:cs typeface="Times New Roman" panose="02020603050405020304" pitchFamily="18" charset="0"/>
            </a:endParaRPr>
          </a:p>
          <a:p>
            <a:pPr marL="457200" lvl="0" indent="-323850" algn="just">
              <a:lnSpc>
                <a:spcPct val="160000"/>
              </a:lnSpc>
              <a:buClr>
                <a:schemeClr val="dk1"/>
              </a:buClr>
              <a:buSzPts val="1500"/>
              <a:buChar char="●"/>
            </a:pPr>
            <a:r>
              <a:rPr lang="en-US" sz="1500" dirty="0">
                <a:latin typeface="Times New Roman" panose="02020603050405020304" pitchFamily="18" charset="0"/>
                <a:cs typeface="Times New Roman" panose="02020603050405020304" pitchFamily="18" charset="0"/>
              </a:rPr>
              <a:t>Short-term or time-stamped credentials used to minimize exposure.</a:t>
            </a:r>
            <a:endParaRPr sz="1500" dirty="0">
              <a:solidFill>
                <a:schemeClr val="dk1"/>
              </a:solidFill>
              <a:latin typeface="Times New Roman" panose="02020603050405020304" pitchFamily="18" charset="0"/>
              <a:cs typeface="Times New Roman" panose="02020603050405020304" pitchFamily="18" charset="0"/>
            </a:endParaRPr>
          </a:p>
          <a:p>
            <a:pPr lvl="0" algn="just">
              <a:lnSpc>
                <a:spcPct val="160000"/>
              </a:lnSpc>
              <a:spcBef>
                <a:spcPts val="1800"/>
              </a:spcBef>
            </a:pPr>
            <a:r>
              <a:rPr lang="en-US" sz="1700" b="1" dirty="0">
                <a:solidFill>
                  <a:schemeClr val="dk1"/>
                </a:solidFill>
                <a:latin typeface="Times New Roman" panose="02020603050405020304" pitchFamily="18" charset="0"/>
                <a:cs typeface="Times New Roman" panose="02020603050405020304" pitchFamily="18" charset="0"/>
              </a:rPr>
              <a:t>Phase 3: </a:t>
            </a:r>
            <a:r>
              <a:rPr lang="en-IN" sz="1700" b="1" dirty="0">
                <a:latin typeface="Times New Roman" panose="02020603050405020304" pitchFamily="18" charset="0"/>
                <a:cs typeface="Times New Roman" panose="02020603050405020304" pitchFamily="18" charset="0"/>
              </a:rPr>
              <a:t>Decentralized Verification</a:t>
            </a:r>
            <a:endParaRPr lang="en-US" sz="1700" b="1" dirty="0">
              <a:solidFill>
                <a:schemeClr val="dk1"/>
              </a:solidFill>
              <a:latin typeface="Times New Roman" panose="02020603050405020304" pitchFamily="18" charset="0"/>
              <a:cs typeface="Times New Roman" panose="02020603050405020304" pitchFamily="18" charset="0"/>
            </a:endParaRPr>
          </a:p>
          <a:p>
            <a:pPr marL="457200" lvl="0" indent="-323850" algn="just">
              <a:lnSpc>
                <a:spcPct val="160000"/>
              </a:lnSpc>
              <a:spcBef>
                <a:spcPts val="1200"/>
              </a:spcBef>
              <a:buClr>
                <a:schemeClr val="dk1"/>
              </a:buClr>
              <a:buSzPts val="1500"/>
              <a:buChar char="●"/>
            </a:pPr>
            <a:r>
              <a:rPr lang="en-US" sz="1500" dirty="0">
                <a:latin typeface="Times New Roman" panose="02020603050405020304" pitchFamily="18" charset="0"/>
                <a:cs typeface="Times New Roman" panose="02020603050405020304" pitchFamily="18" charset="0"/>
              </a:rPr>
              <a:t>Verifier validates credentials using Zero-Knowledge Proofs.</a:t>
            </a:r>
            <a:endParaRPr lang="en-US" sz="1500" dirty="0">
              <a:solidFill>
                <a:schemeClr val="dk1"/>
              </a:solidFill>
              <a:latin typeface="Times New Roman" panose="02020603050405020304" pitchFamily="18" charset="0"/>
              <a:cs typeface="Times New Roman" panose="02020603050405020304" pitchFamily="18" charset="0"/>
            </a:endParaRPr>
          </a:p>
          <a:p>
            <a:pPr marL="457200" lvl="0" indent="-323850" algn="just">
              <a:lnSpc>
                <a:spcPct val="160000"/>
              </a:lnSpc>
              <a:buClr>
                <a:schemeClr val="dk1"/>
              </a:buClr>
              <a:buSzPts val="1500"/>
              <a:buChar char="●"/>
            </a:pPr>
            <a:r>
              <a:rPr lang="en-US" sz="1500" dirty="0">
                <a:latin typeface="Times New Roman" panose="02020603050405020304" pitchFamily="18" charset="0"/>
                <a:cs typeface="Times New Roman" panose="02020603050405020304" pitchFamily="18" charset="0"/>
              </a:rPr>
              <a:t>Blockchain ledger confirms authenticity without accessing personal data.</a:t>
            </a:r>
          </a:p>
          <a:p>
            <a:pPr marL="457200" lvl="0" indent="-323850" algn="just">
              <a:lnSpc>
                <a:spcPct val="160000"/>
              </a:lnSpc>
              <a:buClr>
                <a:schemeClr val="dk1"/>
              </a:buClr>
              <a:buSzPts val="1500"/>
              <a:buChar char="●"/>
            </a:pPr>
            <a:r>
              <a:rPr lang="en-US" sz="1500" dirty="0">
                <a:latin typeface="Times New Roman" panose="02020603050405020304" pitchFamily="18" charset="0"/>
                <a:cs typeface="Times New Roman" panose="02020603050405020304" pitchFamily="18" charset="0"/>
              </a:rPr>
              <a:t>Access granted to service provider upon successful verification.</a:t>
            </a:r>
            <a:endParaRPr sz="1500" b="1"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200"/>
              <a:buFont typeface="Arial"/>
              <a:buNone/>
            </a:pPr>
            <a:r>
              <a:rPr lang="en-US" sz="3200" dirty="0">
                <a:solidFill>
                  <a:schemeClr val="dk1"/>
                </a:solidFill>
                <a:latin typeface="Times New Roman"/>
                <a:cs typeface="Times New Roman"/>
                <a:sym typeface="Times New Roman"/>
              </a:rPr>
              <a:t>Architecture</a:t>
            </a:r>
            <a:endParaRPr lang="en-US" dirty="0"/>
          </a:p>
        </p:txBody>
      </p:sp>
      <p:sp>
        <p:nvSpPr>
          <p:cNvPr id="132" name="Google Shape;132;p21"/>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9</a:t>
            </a:fld>
            <a:endParaRPr/>
          </a:p>
        </p:txBody>
      </p:sp>
      <p:sp>
        <p:nvSpPr>
          <p:cNvPr id="133" name="Google Shape;133;p21"/>
          <p:cNvSpPr txBox="1"/>
          <p:nvPr/>
        </p:nvSpPr>
        <p:spPr>
          <a:xfrm>
            <a:off x="305408" y="1177704"/>
            <a:ext cx="8838600" cy="48387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1200"/>
              </a:spcBef>
              <a:spcAft>
                <a:spcPts val="0"/>
              </a:spcAft>
              <a:buNone/>
            </a:pPr>
            <a:endParaRPr sz="1600" b="1" dirty="0">
              <a:latin typeface="Times New Roman"/>
              <a:ea typeface="Times New Roman"/>
              <a:cs typeface="Times New Roman"/>
              <a:sym typeface="Times New Roman"/>
            </a:endParaRPr>
          </a:p>
        </p:txBody>
      </p:sp>
      <p:pic>
        <p:nvPicPr>
          <p:cNvPr id="2" name="Image 8">
            <a:extLst>
              <a:ext uri="{FF2B5EF4-FFF2-40B4-BE49-F238E27FC236}">
                <a16:creationId xmlns:a16="http://schemas.microsoft.com/office/drawing/2014/main" id="{FA135DCA-B65E-07DE-0CDC-FF33DE426448}"/>
              </a:ext>
            </a:extLst>
          </p:cNvPr>
          <p:cNvPicPr>
            <a:picLocks/>
          </p:cNvPicPr>
          <p:nvPr/>
        </p:nvPicPr>
        <p:blipFill>
          <a:blip r:embed="rId3" cstate="print"/>
          <a:stretch>
            <a:fillRect/>
          </a:stretch>
        </p:blipFill>
        <p:spPr>
          <a:xfrm>
            <a:off x="539016" y="1447799"/>
            <a:ext cx="7690584" cy="43177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200"/>
              <a:buFont typeface="Arial"/>
              <a:buNone/>
            </a:pPr>
            <a:r>
              <a:rPr lang="en-US" sz="3200" b="0" i="0" u="none" strike="noStrike" cap="none" dirty="0">
                <a:solidFill>
                  <a:schemeClr val="dk1"/>
                </a:solidFill>
                <a:latin typeface="Times New Roman"/>
                <a:ea typeface="Times New Roman"/>
                <a:cs typeface="Times New Roman"/>
                <a:sym typeface="Times New Roman"/>
              </a:rPr>
              <a:t>Conclusion &amp; Future Work</a:t>
            </a:r>
            <a:endParaRPr dirty="0"/>
          </a:p>
        </p:txBody>
      </p:sp>
      <p:sp>
        <p:nvSpPr>
          <p:cNvPr id="139" name="Google Shape;139;p22"/>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10</a:t>
            </a:fld>
            <a:endParaRPr/>
          </a:p>
        </p:txBody>
      </p:sp>
      <p:sp>
        <p:nvSpPr>
          <p:cNvPr id="140" name="Google Shape;140;p22"/>
          <p:cNvSpPr txBox="1"/>
          <p:nvPr/>
        </p:nvSpPr>
        <p:spPr>
          <a:xfrm>
            <a:off x="164008" y="1109742"/>
            <a:ext cx="8838600" cy="4838700"/>
          </a:xfrm>
          <a:prstGeom prst="rect">
            <a:avLst/>
          </a:prstGeom>
          <a:noFill/>
          <a:ln>
            <a:noFill/>
          </a:ln>
        </p:spPr>
        <p:txBody>
          <a:bodyPr spcFirstLastPara="1" wrap="square" lIns="91425" tIns="45700" rIns="91425" bIns="45700" anchor="t" anchorCtr="0">
            <a:normAutofit fontScale="92500"/>
          </a:bodyPr>
          <a:lstStyle/>
          <a:p>
            <a:pPr marL="457200" marR="0" lvl="0" indent="-342900" algn="just" rtl="0">
              <a:lnSpc>
                <a:spcPct val="150000"/>
              </a:lnSpc>
              <a:spcBef>
                <a:spcPts val="100"/>
              </a:spcBef>
              <a:spcAft>
                <a:spcPts val="0"/>
              </a:spcAft>
              <a:buClr>
                <a:srgbClr val="000000"/>
              </a:buClr>
              <a:buSzPts val="1600"/>
              <a:buFont typeface="Times New Roman"/>
              <a:buChar char="●"/>
            </a:pPr>
            <a:r>
              <a:rPr lang="en-US" sz="1800" b="1" i="0" u="none" strike="noStrike" cap="none" dirty="0">
                <a:solidFill>
                  <a:srgbClr val="000000"/>
                </a:solidFill>
                <a:latin typeface="Times New Roman"/>
                <a:ea typeface="Times New Roman"/>
                <a:cs typeface="Times New Roman"/>
                <a:sym typeface="Times New Roman"/>
              </a:rPr>
              <a:t>Conclusion</a:t>
            </a:r>
            <a:endParaRPr sz="1800" dirty="0"/>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Proposed a decentralized digital identity system to overcome limitations of centralized models.</a:t>
            </a:r>
            <a:endParaRPr sz="1600" dirty="0">
              <a:latin typeface="Times New Roman" panose="02020603050405020304" pitchFamily="18" charset="0"/>
              <a:ea typeface="Times New Roman"/>
              <a:cs typeface="Times New Roman" panose="02020603050405020304" pitchFamily="18" charset="0"/>
              <a:sym typeface="Times New Roman"/>
            </a:endParaRPr>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Enhanced user privacy through selective disclosure and minimal data sharing.</a:t>
            </a:r>
            <a:endParaRPr sz="1600" dirty="0">
              <a:latin typeface="Times New Roman" panose="02020603050405020304" pitchFamily="18" charset="0"/>
              <a:ea typeface="Times New Roman"/>
              <a:cs typeface="Times New Roman" panose="02020603050405020304" pitchFamily="18" charset="0"/>
              <a:sym typeface="Times New Roman"/>
            </a:endParaRPr>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Improved security by eliminating single points of failure using blockchain technology.</a:t>
            </a:r>
            <a:endParaRPr sz="1600" dirty="0">
              <a:latin typeface="Times New Roman" panose="02020603050405020304" pitchFamily="18" charset="0"/>
              <a:ea typeface="Times New Roman"/>
              <a:cs typeface="Times New Roman" panose="02020603050405020304" pitchFamily="18" charset="0"/>
              <a:sym typeface="Times New Roman"/>
            </a:endParaRPr>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Provided users full control over their identity data and authentication process.</a:t>
            </a:r>
            <a:endParaRPr sz="1600" dirty="0">
              <a:latin typeface="Times New Roman" panose="02020603050405020304" pitchFamily="18" charset="0"/>
              <a:ea typeface="Times New Roman"/>
              <a:cs typeface="Times New Roman" panose="02020603050405020304" pitchFamily="18" charset="0"/>
              <a:sym typeface="Times New Roman"/>
            </a:endParaRPr>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Reduced risks of data breaches, identity theft, and unauthorized access.</a:t>
            </a:r>
          </a:p>
          <a:p>
            <a:pPr marL="590550" lvl="1" algn="just">
              <a:spcBef>
                <a:spcPts val="100"/>
              </a:spcBef>
              <a:buSzPts val="1500"/>
            </a:pPr>
            <a:endParaRPr lang="en-US" sz="1600" dirty="0">
              <a:latin typeface="Times New Roman" panose="02020603050405020304" pitchFamily="18" charset="0"/>
              <a:cs typeface="Times New Roman" panose="02020603050405020304" pitchFamily="18" charset="0"/>
            </a:endParaRPr>
          </a:p>
          <a:p>
            <a:pPr marL="457200" marR="0" lvl="0" indent="-342900" algn="just" rtl="0">
              <a:lnSpc>
                <a:spcPct val="150000"/>
              </a:lnSpc>
              <a:spcBef>
                <a:spcPts val="100"/>
              </a:spcBef>
              <a:spcAft>
                <a:spcPts val="0"/>
              </a:spcAft>
              <a:buClr>
                <a:srgbClr val="000000"/>
              </a:buClr>
              <a:buSzPts val="1600"/>
              <a:buFont typeface="Times New Roman"/>
              <a:buChar char="●"/>
            </a:pPr>
            <a:r>
              <a:rPr lang="en-US" sz="1800" b="1" i="0" u="none" strike="noStrike" cap="none" dirty="0">
                <a:solidFill>
                  <a:srgbClr val="000000"/>
                </a:solidFill>
                <a:latin typeface="Times New Roman"/>
                <a:ea typeface="Times New Roman"/>
                <a:cs typeface="Times New Roman"/>
                <a:sym typeface="Times New Roman"/>
              </a:rPr>
              <a:t>Future Work</a:t>
            </a:r>
            <a:endParaRPr sz="1800" dirty="0"/>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Improve system performance by optimizing cryptographic operations for faster authentication.</a:t>
            </a:r>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Improve system performance by optimizing cryptographic operations for faster authentication.</a:t>
            </a:r>
            <a:endParaRPr lang="en-US" sz="1600" dirty="0">
              <a:latin typeface="Times New Roman" panose="02020603050405020304" pitchFamily="18" charset="0"/>
              <a:ea typeface="Times New Roman"/>
              <a:cs typeface="Times New Roman" panose="02020603050405020304" pitchFamily="18" charset="0"/>
              <a:sym typeface="Times New Roman"/>
            </a:endParaRPr>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Enable cross-chain interoperability for use across multiple blockchain networks.</a:t>
            </a:r>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Develop user-friendly mobile and web interfaces for better adoption.</a:t>
            </a:r>
          </a:p>
          <a:p>
            <a:pPr marL="914400" lvl="1" indent="-323850" algn="just">
              <a:lnSpc>
                <a:spcPct val="150000"/>
              </a:lnSpc>
              <a:spcBef>
                <a:spcPts val="100"/>
              </a:spcBef>
              <a:buSzPts val="1500"/>
              <a:buFont typeface="Times New Roman"/>
              <a:buChar char="○"/>
            </a:pPr>
            <a:r>
              <a:rPr lang="en-US" sz="1600" dirty="0">
                <a:latin typeface="Times New Roman" panose="02020603050405020304" pitchFamily="18" charset="0"/>
                <a:cs typeface="Times New Roman" panose="02020603050405020304" pitchFamily="18" charset="0"/>
              </a:rPr>
              <a:t>Enhance scalability to support large-scale real-world deployments.</a:t>
            </a:r>
            <a:endParaRPr sz="16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200"/>
              <a:buFont typeface="Arial"/>
              <a:buNone/>
            </a:pPr>
            <a:r>
              <a:rPr lang="en-US" sz="3200" b="0" i="0" u="none" strike="noStrike" cap="none" dirty="0">
                <a:solidFill>
                  <a:schemeClr val="dk1"/>
                </a:solidFill>
                <a:latin typeface="Times New Roman"/>
                <a:ea typeface="Times New Roman"/>
                <a:cs typeface="Times New Roman"/>
                <a:sym typeface="Times New Roman"/>
              </a:rPr>
              <a:t>References</a:t>
            </a:r>
            <a:endParaRPr dirty="0"/>
          </a:p>
        </p:txBody>
      </p:sp>
      <p:sp>
        <p:nvSpPr>
          <p:cNvPr id="146" name="Google Shape;146;p23"/>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11</a:t>
            </a:fld>
            <a:endParaRPr/>
          </a:p>
        </p:txBody>
      </p:sp>
      <p:sp>
        <p:nvSpPr>
          <p:cNvPr id="147" name="Google Shape;147;p23"/>
          <p:cNvSpPr txBox="1"/>
          <p:nvPr/>
        </p:nvSpPr>
        <p:spPr>
          <a:xfrm>
            <a:off x="164008" y="1109742"/>
            <a:ext cx="8838600" cy="48387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1400"/>
              <a:buFont typeface="Arial"/>
              <a:buNone/>
            </a:pPr>
            <a:endParaRPr sz="1500" b="0" i="0" u="none" strike="noStrike" cap="none" dirty="0">
              <a:solidFill>
                <a:srgbClr val="000000"/>
              </a:solidFill>
              <a:latin typeface="Arial"/>
              <a:ea typeface="Arial"/>
              <a:cs typeface="Arial"/>
              <a:sym typeface="Arial"/>
            </a:endParaRPr>
          </a:p>
          <a:p>
            <a:pPr marL="457200" marR="0" lvl="0" indent="-323850" algn="l" rtl="0">
              <a:lnSpc>
                <a:spcPct val="100000"/>
              </a:lnSpc>
              <a:spcBef>
                <a:spcPts val="100"/>
              </a:spcBef>
              <a:spcAft>
                <a:spcPts val="0"/>
              </a:spcAft>
              <a:buClr>
                <a:srgbClr val="000000"/>
              </a:buClr>
              <a:buSzPts val="1300"/>
              <a:buFont typeface="Times New Roman"/>
              <a:buChar char="●"/>
            </a:pP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[1] I. Sedki, A. Hamou-</a:t>
            </a:r>
            <a:r>
              <a:rPr lang="en-US" sz="1600" b="0"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Lhadj</a:t>
            </a: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et al., “An Effective Approach for Parsing Large Log Files,” Concordia University.</a:t>
            </a:r>
            <a:endParaRPr sz="1600" dirty="0">
              <a:latin typeface="Times New Roman" panose="02020603050405020304" pitchFamily="18" charset="0"/>
              <a:cs typeface="Times New Roman" panose="02020603050405020304" pitchFamily="18" charset="0"/>
            </a:endParaRPr>
          </a:p>
          <a:p>
            <a:pPr marL="457200" marR="0" lvl="0" indent="-323850" algn="l" rtl="0">
              <a:lnSpc>
                <a:spcPct val="100000"/>
              </a:lnSpc>
              <a:spcBef>
                <a:spcPts val="100"/>
              </a:spcBef>
              <a:spcAft>
                <a:spcPts val="0"/>
              </a:spcAft>
              <a:buClr>
                <a:srgbClr val="000000"/>
              </a:buClr>
              <a:buSzPts val="1300"/>
              <a:buFont typeface="Times New Roman"/>
              <a:buChar char="●"/>
            </a:pP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[2] P. He, J. Zhu, Z. Zheng, M. R. Lyu, “Drain: An Online Log Parsing Approach with Fixed Depth Tree,” IEEE ICWS 2017, pp. 33-40.</a:t>
            </a:r>
            <a:endParaRPr sz="1600" dirty="0">
              <a:latin typeface="Times New Roman" panose="02020603050405020304" pitchFamily="18" charset="0"/>
              <a:cs typeface="Times New Roman" panose="02020603050405020304" pitchFamily="18" charset="0"/>
            </a:endParaRPr>
          </a:p>
          <a:p>
            <a:pPr marL="457200" marR="0" lvl="0" indent="-323850" algn="l" rtl="0">
              <a:lnSpc>
                <a:spcPct val="100000"/>
              </a:lnSpc>
              <a:spcBef>
                <a:spcPts val="100"/>
              </a:spcBef>
              <a:spcAft>
                <a:spcPts val="0"/>
              </a:spcAft>
              <a:buClr>
                <a:srgbClr val="000000"/>
              </a:buClr>
              <a:buSzPts val="1300"/>
              <a:buFont typeface="Times New Roman"/>
              <a:buChar char="●"/>
            </a:pP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[3] “Big Data Analytics with Hadoop,” International Journal of Engineering Research &amp; Technology (IJERT).</a:t>
            </a:r>
            <a:endParaRPr sz="1600" dirty="0">
              <a:latin typeface="Times New Roman" panose="02020603050405020304" pitchFamily="18" charset="0"/>
              <a:cs typeface="Times New Roman" panose="02020603050405020304" pitchFamily="18" charset="0"/>
            </a:endParaRPr>
          </a:p>
          <a:p>
            <a:pPr marL="457200" marR="0" lvl="0" indent="-323850" algn="l" rtl="0">
              <a:lnSpc>
                <a:spcPct val="100000"/>
              </a:lnSpc>
              <a:spcBef>
                <a:spcPts val="100"/>
              </a:spcBef>
              <a:spcAft>
                <a:spcPts val="0"/>
              </a:spcAft>
              <a:buClr>
                <a:srgbClr val="000000"/>
              </a:buClr>
              <a:buSzPts val="1300"/>
              <a:buFont typeface="Times New Roman"/>
              <a:buChar char="●"/>
            </a:pP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[4] H. </a:t>
            </a:r>
            <a:r>
              <a:rPr lang="en-US" sz="1600" b="0"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Annangi</a:t>
            </a: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“Security Log Analysis Using Hadoop,” Master’s thesis, St. Cloud State University, MN, 2017.</a:t>
            </a:r>
            <a:endParaRPr sz="1600" dirty="0">
              <a:latin typeface="Times New Roman" panose="02020603050405020304" pitchFamily="18" charset="0"/>
              <a:cs typeface="Times New Roman" panose="02020603050405020304" pitchFamily="18" charset="0"/>
            </a:endParaRPr>
          </a:p>
          <a:p>
            <a:pPr marL="457200" marR="0" lvl="0" indent="-323850" algn="l" rtl="0">
              <a:lnSpc>
                <a:spcPct val="100000"/>
              </a:lnSpc>
              <a:spcBef>
                <a:spcPts val="100"/>
              </a:spcBef>
              <a:spcAft>
                <a:spcPts val="0"/>
              </a:spcAft>
              <a:buClr>
                <a:srgbClr val="000000"/>
              </a:buClr>
              <a:buSzPts val="1300"/>
              <a:buFont typeface="Times New Roman"/>
              <a:buChar char="●"/>
            </a:pP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[5] G. Aydin and I. R. </a:t>
            </a:r>
            <a:r>
              <a:rPr lang="en-US" sz="1600" b="0"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Hallac</a:t>
            </a: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“Distributed log analysis on the cloud using MapReduce,” </a:t>
            </a:r>
            <a:r>
              <a:rPr lang="en-US" sz="1600" b="0"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Tehnički</a:t>
            </a: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b="0"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vjesnik</a:t>
            </a:r>
            <a:r>
              <a:rPr lang="en-US" sz="16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vol. 23, no. 4, pp. 1011-1016, 2016.</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p:nvPr/>
        </p:nvSpPr>
        <p:spPr>
          <a:xfrm>
            <a:off x="1297577" y="2821578"/>
            <a:ext cx="6705600" cy="1410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Times New Roman"/>
                <a:ea typeface="Times New Roman"/>
                <a:cs typeface="Times New Roman"/>
                <a:sym typeface="Times New Roman"/>
              </a:rPr>
              <a:t>Thank You</a:t>
            </a:r>
            <a:endParaRPr sz="5400" b="0" i="0" u="none" strike="noStrike" cap="none">
              <a:solidFill>
                <a:srgbClr val="000000"/>
              </a:solidFill>
              <a:latin typeface="Times New Roman"/>
              <a:ea typeface="Times New Roman"/>
              <a:cs typeface="Times New Roman"/>
              <a:sym typeface="Times New Roman"/>
            </a:endParaRPr>
          </a:p>
        </p:txBody>
      </p:sp>
      <p:sp>
        <p:nvSpPr>
          <p:cNvPr id="153" name="Google Shape;153;p24"/>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rgbClr val="000000"/>
                </a:solidFill>
                <a:latin typeface="Calibri"/>
                <a:ea typeface="Calibri"/>
                <a:cs typeface="Calibri"/>
                <a:sym typeface="Calibri"/>
              </a:rPr>
              <a:t>12</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1076</Words>
  <Application>Microsoft Office PowerPoint</Application>
  <PresentationFormat>On-screen Show (4:3)</PresentationFormat>
  <Paragraphs>105</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Rahul Rajesh</dc:creator>
  <cp:lastModifiedBy>Rahul Sangwan</cp:lastModifiedBy>
  <cp:revision>1</cp:revision>
  <dcterms:modified xsi:type="dcterms:W3CDTF">2026-04-29T07:08:25Z</dcterms:modified>
</cp:coreProperties>
</file>