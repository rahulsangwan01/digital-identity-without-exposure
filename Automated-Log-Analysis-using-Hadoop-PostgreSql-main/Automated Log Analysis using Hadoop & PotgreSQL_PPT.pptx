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media/image5.png" ContentType="image/png"/>
  <Override PartName="/ppt/media/image6.png" ContentType="image/png"/>
  <Override PartName="/ppt/media/image7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</a:t>
            </a:r>
            <a:r>
              <a:rPr b="0" lang="en-IN" sz="2000" spc="-1" strike="noStrike">
                <a:latin typeface="Arial"/>
              </a:rPr>
              <a:t>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BBD3517-97D2-4078-9923-7560A15F4C93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1374840" y="1336680"/>
            <a:ext cx="4809960" cy="3607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360" cy="536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4538ADE-E074-4F92-A615-C22E2D581260}" type="slidenum">
              <a:rPr b="0" lang="en-US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ftr" idx="5"/>
          </p:nvPr>
        </p:nvSpPr>
        <p:spPr>
          <a:xfrm>
            <a:off x="0" y="10155240"/>
            <a:ext cx="3276360" cy="536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Name of the faculty [Group: G00] [Sem:2nd]</a:t>
            </a:r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eg"/><Relationship Id="rId9" Type="http://schemas.openxmlformats.org/officeDocument/2006/relationships/slideLayout" Target="../slideLayouts/slideLayout1.xml"/><Relationship Id="rId10" Type="http://schemas.openxmlformats.org/officeDocument/2006/relationships/slideLayout" Target="../slideLayouts/slideLayout2.xml"/><Relationship Id="rId11" Type="http://schemas.openxmlformats.org/officeDocument/2006/relationships/slideLayout" Target="../slideLayouts/slideLayout3.xml"/><Relationship Id="rId12" Type="http://schemas.openxmlformats.org/officeDocument/2006/relationships/slideLayout" Target="../slideLayouts/slideLayout4.xml"/><Relationship Id="rId13" Type="http://schemas.openxmlformats.org/officeDocument/2006/relationships/slideLayout" Target="../slideLayouts/slideLayout5.xml"/><Relationship Id="rId14" Type="http://schemas.openxmlformats.org/officeDocument/2006/relationships/slideLayout" Target="../slideLayouts/slideLayout6.xml"/><Relationship Id="rId15" Type="http://schemas.openxmlformats.org/officeDocument/2006/relationships/slideLayout" Target="../slideLayouts/slideLayout7.xml"/><Relationship Id="rId16" Type="http://schemas.openxmlformats.org/officeDocument/2006/relationships/slideLayout" Target="../slideLayouts/slideLayout8.xml"/><Relationship Id="rId17" Type="http://schemas.openxmlformats.org/officeDocument/2006/relationships/slideLayout" Target="../slideLayouts/slideLayout9.xml"/><Relationship Id="rId18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1.xml"/><Relationship Id="rId20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Google Shape;11;p1"/>
          <p:cNvSpPr/>
          <p:nvPr/>
        </p:nvSpPr>
        <p:spPr>
          <a:xfrm flipH="1" rot="10800000">
            <a:off x="360" y="6705000"/>
            <a:ext cx="9143280" cy="19728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" name="Google Shape;12;p1" descr="LOGO.gif"/>
          <p:cNvPicPr/>
          <p:nvPr/>
        </p:nvPicPr>
        <p:blipFill>
          <a:blip r:embed="rId2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0">
            <a:noFill/>
          </a:ln>
        </p:spPr>
      </p:pic>
      <p:pic>
        <p:nvPicPr>
          <p:cNvPr id="3" name="Google Shape;13;p1" descr="LOGO.gif"/>
          <p:cNvPicPr/>
          <p:nvPr/>
        </p:nvPicPr>
        <p:blipFill>
          <a:blip r:embed="rId3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0">
            <a:noFill/>
          </a:ln>
        </p:spPr>
      </p:pic>
      <p:grpSp>
        <p:nvGrpSpPr>
          <p:cNvPr id="4" name="Google Shape;14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5" name="Google Shape;15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" name="Google Shape;16;p1" descr="LOGO.gif"/>
            <p:cNvPicPr/>
            <p:nvPr/>
          </p:nvPicPr>
          <p:blipFill>
            <a:blip r:embed="rId4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" name="Google Shape;17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8" name="Google Shape;18;p1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9;p1" descr="LOGO.gif"/>
          <p:cNvPicPr/>
          <p:nvPr/>
        </p:nvPicPr>
        <p:blipFill>
          <a:blip r:embed="rId6"/>
          <a:srcRect l="0" t="0" r="0" b="10714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ln w="0">
            <a:noFill/>
          </a:ln>
        </p:spPr>
      </p:pic>
      <p:grpSp>
        <p:nvGrpSpPr>
          <p:cNvPr id="10" name="Google Shape;20;p1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" name="Google Shape;21;p1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2" name="Google Shape;22;p1" descr="LOGO.gif"/>
            <p:cNvPicPr/>
            <p:nvPr/>
          </p:nvPicPr>
          <p:blipFill>
            <a:blip r:embed="rId7"/>
            <a:srcRect l="0" t="0" r="0" b="10714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" name="Google Shape;23;p1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4" name="Google Shape;24;p1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9"/>
    <p:sldLayoutId id="2147483650" r:id="rId10"/>
    <p:sldLayoutId id="2147483651" r:id="rId11"/>
    <p:sldLayoutId id="2147483652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  <p:sldLayoutId id="2147483660" r:id="rId2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84;p14"/>
          <p:cNvSpPr/>
          <p:nvPr/>
        </p:nvSpPr>
        <p:spPr>
          <a:xfrm>
            <a:off x="0" y="840600"/>
            <a:ext cx="9143640" cy="57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Project Presentation of CO-OP Project at Industry (Module-2) (22CS421)</a:t>
            </a:r>
            <a:endParaRPr b="0" lang="en-IN" sz="18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On</a:t>
            </a:r>
            <a:endParaRPr b="0" lang="en-IN" sz="20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Automated Log Analysis System using Hadoop and PostgreSQL</a:t>
            </a:r>
            <a:endParaRPr b="0" lang="en-IN" sz="28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br>
              <a:rPr sz="2000"/>
            </a:b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Harsh Chauhan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- 2210990377</a:t>
            </a:r>
            <a:endParaRPr b="0" lang="en-IN" sz="18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Krishna Sharma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- 2210990520</a:t>
            </a:r>
            <a:endParaRPr b="0" lang="en-IN" sz="18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Rashika Anand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- 2210992139</a:t>
            </a:r>
            <a:endParaRPr b="0" lang="en-IN" sz="18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Abhishek Choudhary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- 2210991160</a:t>
            </a:r>
            <a:endParaRPr b="0" lang="en-IN" sz="18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Supervised By</a:t>
            </a:r>
            <a:endParaRPr b="0" lang="en-IN" sz="18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Mr. Ashish Kumar</a:t>
            </a:r>
            <a:endParaRPr b="0" lang="en-IN" sz="18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Department of Computer Science and Engineering, </a:t>
            </a:r>
            <a:endParaRPr b="0" lang="en-IN" sz="2400" spc="-1" strike="noStrike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Chitkara University, Punjab</a:t>
            </a:r>
            <a:endParaRPr b="0" lang="en-IN" sz="2400" spc="-1" strike="noStrike">
              <a:latin typeface="Times New ROman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89;p15"/>
          <p:cNvSpPr/>
          <p:nvPr/>
        </p:nvSpPr>
        <p:spPr>
          <a:xfrm>
            <a:off x="-151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Introduction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61" name="Google Shape;90;p15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CD4AE9B-08B9-4547-A63E-C947AFBBDB73}" type="slidenum">
              <a:rPr b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62" name="Google Shape;91;p15"/>
          <p:cNvSpPr/>
          <p:nvPr/>
        </p:nvSpPr>
        <p:spPr>
          <a:xfrm>
            <a:off x="0" y="83736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latin typeface="Arial"/>
            </a:endParaRPr>
          </a:p>
          <a:p>
            <a:pPr marL="457200" indent="-3492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Software logs record system events, errors, and user activities.</a:t>
            </a:r>
            <a:endParaRPr b="0" lang="en-IN" sz="2000" spc="-1" strike="noStrike">
              <a:latin typeface="Arial"/>
            </a:endParaRPr>
          </a:p>
          <a:p>
            <a:pPr marL="457200" indent="-3492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Logs are important for monitoring, debugging, and system maintenance.</a:t>
            </a:r>
            <a:endParaRPr b="0" lang="en-IN" sz="2000" spc="-1" strike="noStrike">
              <a:latin typeface="Arial"/>
            </a:endParaRPr>
          </a:p>
          <a:p>
            <a:pPr marL="457200" indent="-3492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Modern systems generate millions of log entries every second.</a:t>
            </a:r>
            <a:endParaRPr b="0" lang="en-IN" sz="2000" spc="-1" strike="noStrike">
              <a:latin typeface="Arial"/>
            </a:endParaRPr>
          </a:p>
          <a:p>
            <a:pPr marL="457200" indent="-3492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Log data has Big Data characteristics: Volume, Velocity, Variety.</a:t>
            </a:r>
            <a:endParaRPr b="0" lang="en-IN" sz="2000" spc="-1" strike="noStrike">
              <a:latin typeface="Arial"/>
            </a:endParaRPr>
          </a:p>
          <a:p>
            <a:pPr marL="457200" indent="-3492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Manual analysis becomes slow, difficult, and inefficient.</a:t>
            </a:r>
            <a:endParaRPr b="0" lang="en-IN" sz="2000" spc="-1" strike="noStrike">
              <a:latin typeface="Arial"/>
            </a:endParaRPr>
          </a:p>
          <a:p>
            <a:pPr marL="457200" indent="-3492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Automated log analysis is required for fast and accurate insights.</a:t>
            </a:r>
            <a:endParaRPr b="0" lang="en-IN" sz="2000" spc="-1" strike="noStrike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96;p16"/>
          <p:cNvSpPr/>
          <p:nvPr/>
        </p:nvSpPr>
        <p:spPr>
          <a:xfrm>
            <a:off x="-97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Problem Statement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64" name="Google Shape;97;p16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190D9D3-DCCF-4D23-BF8C-F21768DE136B}" type="slidenum">
              <a:rPr b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2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65" name="Google Shape;98;p16"/>
          <p:cNvSpPr/>
          <p:nvPr/>
        </p:nvSpPr>
        <p:spPr>
          <a:xfrm>
            <a:off x="0" y="1080000"/>
            <a:ext cx="8838360" cy="41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457200" indent="-3556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Traditional systems cannot efficiently process huge log files.</a:t>
            </a:r>
            <a:endParaRPr b="0" lang="en-IN" sz="2000" spc="-1" strike="noStrike">
              <a:latin typeface="Times New ROman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High-speed log generation creates storage and performance issues.</a:t>
            </a:r>
            <a:endParaRPr b="0" lang="en-IN" sz="2000" spc="-1" strike="noStrike">
              <a:latin typeface="Times New ROman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Manual analysis is time-consuming and error-prone.</a:t>
            </a:r>
            <a:endParaRPr b="0" lang="en-IN" sz="2000" spc="-1" strike="noStrike">
              <a:latin typeface="Times New ROman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Important faults may remain undetected.</a:t>
            </a:r>
            <a:endParaRPr b="0" lang="en-IN" sz="2000" spc="-1" strike="noStrike">
              <a:latin typeface="Times New ROman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Existing tools only parse logs but lack complete processing pipelines.</a:t>
            </a:r>
            <a:endParaRPr b="0" lang="en-IN" sz="2000" spc="-1" strike="noStrike">
              <a:latin typeface="Times New ROman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A scalable automated solution is needed.</a:t>
            </a:r>
            <a:endParaRPr b="0" lang="en-IN" sz="2000" spc="-1" strike="noStrike">
              <a:latin typeface="Times New ROman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03;p17"/>
          <p:cNvSpPr/>
          <p:nvPr/>
        </p:nvSpPr>
        <p:spPr>
          <a:xfrm>
            <a:off x="-162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Objectives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67" name="Google Shape;104;p17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1B941E0-A7AB-4FAA-B7C3-6E9A86CF48FA}" type="slidenum">
              <a:rPr b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3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68" name="Google Shape;105;p17"/>
          <p:cNvSpPr/>
          <p:nvPr/>
        </p:nvSpPr>
        <p:spPr>
          <a:xfrm>
            <a:off x="0" y="10800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457200" indent="-3556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Develop an automated log analysis system.</a:t>
            </a:r>
            <a:endParaRPr b="0" lang="en-IN" sz="2000" spc="-1" strike="noStrike">
              <a:latin typeface="Times New ROman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Use Hadoop for distributed storage and processing.</a:t>
            </a:r>
            <a:endParaRPr b="0" lang="en-IN" sz="2000" spc="-1" strike="noStrike">
              <a:latin typeface="Times New ROman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Use PostgreSQL for structured storage and fast querying.</a:t>
            </a:r>
            <a:endParaRPr b="0" lang="en-IN" sz="2000" spc="-1" strike="noStrike">
              <a:latin typeface="Times New ROman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Automatically detect and classify error events.</a:t>
            </a:r>
            <a:endParaRPr b="0" lang="en-IN" sz="2000" spc="-1" strike="noStrike">
              <a:latin typeface="Times New ROman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Improve performance over traditional log parsing methods.</a:t>
            </a:r>
            <a:endParaRPr b="0" lang="en-IN" sz="2000" spc="-1" strike="noStrike">
              <a:latin typeface="Times New ROman"/>
            </a:endParaRPr>
          </a:p>
          <a:p>
            <a:pPr marL="457200" indent="-3556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Build a scalable and reliable monitoring solution.</a:t>
            </a:r>
            <a:endParaRPr b="0" lang="en-IN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10;p18"/>
          <p:cNvSpPr/>
          <p:nvPr/>
        </p:nvSpPr>
        <p:spPr>
          <a:xfrm>
            <a:off x="-144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Related Work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0" name="Google Shape;111;p18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2B9EFEA-C6C7-4798-95FB-F4CB1A736A31}" type="slidenum">
              <a:rPr b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4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71" name="Google Shape;112;p18"/>
          <p:cNvSpPr/>
          <p:nvPr/>
        </p:nvSpPr>
        <p:spPr>
          <a:xfrm>
            <a:off x="-18360" y="7416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50" spc="-1" strike="noStrike">
              <a:latin typeface="Arial"/>
            </a:endParaRPr>
          </a:p>
          <a:p>
            <a:pPr marL="457200" indent="-3492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1" lang="en-US" sz="20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Log Parsing &amp; Abstraction Techniques</a:t>
            </a:r>
            <a:endParaRPr b="0" lang="en-IN" sz="2050" spc="-1" strike="noStrike">
              <a:latin typeface="Arial"/>
            </a:endParaRPr>
          </a:p>
          <a:p>
            <a:pPr lvl="1" marL="914400" indent="-330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SLCT: Uses frequency-based token mining to create log templates via clustering</a:t>
            </a:r>
            <a:endParaRPr b="0" lang="en-IN" sz="2050" spc="-1" strike="noStrike">
              <a:latin typeface="Arial"/>
            </a:endParaRPr>
          </a:p>
          <a:p>
            <a:pPr lvl="1" marL="914400" indent="-330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AEL: Groups related log events into template structures using textual similarity</a:t>
            </a:r>
            <a:endParaRPr b="0" lang="en-IN" sz="2050" spc="-1" strike="noStrike">
              <a:latin typeface="Arial"/>
            </a:endParaRPr>
          </a:p>
          <a:p>
            <a:pPr lvl="1" marL="914400" indent="-330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Drain: Online log parsing with a fixed-depth tree — high accuracy and speed for real-time parsing</a:t>
            </a:r>
            <a:endParaRPr b="0" lang="en-IN" sz="2050" spc="-1" strike="noStrike">
              <a:latin typeface="Arial"/>
            </a:endParaRPr>
          </a:p>
          <a:p>
            <a:pPr lvl="1" marL="914400" indent="-330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Limitation: These tools operate independently without a complete distributed pipeline</a:t>
            </a:r>
            <a:endParaRPr b="0" lang="en-IN" sz="2050" spc="-1" strike="noStrike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IN" sz="2050" spc="-1" strike="noStrike">
              <a:latin typeface="Arial"/>
            </a:endParaRPr>
          </a:p>
          <a:p>
            <a:pPr marL="457200" indent="-3492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1" lang="en-US" sz="20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Distributed Log Processing Frameworks</a:t>
            </a:r>
            <a:endParaRPr b="0" lang="en-IN" sz="2050" spc="-1" strike="noStrike">
              <a:latin typeface="Arial"/>
            </a:endParaRPr>
          </a:p>
          <a:p>
            <a:pPr lvl="1" marL="914400" indent="-330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Traditional RDBMS struggle with unstructured high-velocity log data at scale</a:t>
            </a:r>
            <a:endParaRPr b="0" lang="en-IN" sz="2050" spc="-1" strike="noStrike">
              <a:latin typeface="Arial"/>
            </a:endParaRPr>
          </a:p>
          <a:p>
            <a:pPr lvl="1" marL="914400" indent="-3301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Apache Hadoop (HDFS + MapReduce) deployed to address storage and compute limitations</a:t>
            </a:r>
            <a:endParaRPr b="0" lang="en-IN" sz="2050" spc="-1" strike="noStrike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IN" sz="2050" spc="-1" strike="noStrike"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endParaRPr b="0" lang="en-IN" sz="2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17;p19"/>
          <p:cNvSpPr/>
          <p:nvPr/>
        </p:nvSpPr>
        <p:spPr>
          <a:xfrm>
            <a:off x="97200" y="0"/>
            <a:ext cx="65628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System Architecture &amp; Methodology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3" name="Google Shape;118;p19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BE3C5DE-FAB7-4634-93F1-B17898FD3BD0}" type="slidenum">
              <a:rPr b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5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74" name="Google Shape;119;p19"/>
          <p:cNvSpPr/>
          <p:nvPr/>
        </p:nvSpPr>
        <p:spPr>
          <a:xfrm>
            <a:off x="-18360" y="7416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latin typeface="Times New ROman"/>
            </a:endParaRPr>
          </a:p>
          <a:p>
            <a:pPr marL="4572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Log Generator → HDFS → MapReduce → PostgreSQL → Reports / Analysis Dashboard</a:t>
            </a:r>
            <a:br>
              <a:rPr sz="2000"/>
            </a:br>
            <a:br>
              <a:rPr sz="2000"/>
            </a:b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Modules:</a:t>
            </a:r>
            <a:endParaRPr b="0" lang="en-IN" sz="2000" spc="-1" strike="noStrike">
              <a:latin typeface="Times New ROman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Log Generator: Creates application logs.</a:t>
            </a:r>
            <a:endParaRPr b="0" lang="en-IN" sz="2000" spc="-1" strike="noStrike">
              <a:latin typeface="Times New ROman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HDFS: Stores large log files.</a:t>
            </a:r>
            <a:endParaRPr b="0" lang="en-IN" sz="2000" spc="-1" strike="noStrike">
              <a:latin typeface="Times New ROman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Mapper: Extracts severity levels.</a:t>
            </a:r>
            <a:endParaRPr b="0" lang="en-IN" sz="2000" spc="-1" strike="noStrike">
              <a:latin typeface="Times New ROman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Reducer: Counts frequencies.</a:t>
            </a:r>
            <a:endParaRPr b="0" lang="en-IN" sz="2000" spc="-1" strike="noStrike">
              <a:latin typeface="Times New ROman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PostgreSQL: Stores processed results.</a:t>
            </a:r>
            <a:endParaRPr b="0" lang="en-IN" sz="2000" spc="-1" strike="noStrike">
              <a:latin typeface="Times New ROman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Dashboard: Query and reporting system.</a:t>
            </a:r>
            <a:endParaRPr b="0" lang="en-IN" sz="2000" spc="-1" strike="noStrike">
              <a:latin typeface="Times New ROman"/>
            </a:endParaRPr>
          </a:p>
          <a:p>
            <a:pPr marL="4572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24;p20"/>
          <p:cNvSpPr/>
          <p:nvPr/>
        </p:nvSpPr>
        <p:spPr>
          <a:xfrm>
            <a:off x="-442800" y="0"/>
            <a:ext cx="78228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System Architecture &amp; Methodology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6" name="Google Shape;125;p20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F69C053-D545-4962-B295-FA0305036CF5}" type="slidenum">
              <a:rPr b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6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77" name="Google Shape;126;p20"/>
          <p:cNvSpPr/>
          <p:nvPr/>
        </p:nvSpPr>
        <p:spPr>
          <a:xfrm>
            <a:off x="161640" y="10800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Phase 1: Data Generation</a:t>
            </a:r>
            <a:endParaRPr b="0" lang="en-IN" sz="2000" spc="-1" strike="noStrike">
              <a:latin typeface="Times New ROman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Selenium WebDriver generates logs.</a:t>
            </a:r>
            <a:endParaRPr b="0" lang="en-IN" sz="2000" spc="-1" strike="noStrike">
              <a:latin typeface="Times New ROman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Faults injected using divide-by-zero exception.</a:t>
            </a:r>
            <a:endParaRPr b="0" lang="en-IN" sz="2000" spc="-1" strike="noStrike">
              <a:latin typeface="Times New ROman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Logs saved in logs.txt file.</a:t>
            </a:r>
            <a:endParaRPr b="0" lang="en-IN" sz="2000" spc="-1" strike="noStrike">
              <a:latin typeface="Times New ROman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Phase 2: Hadoop Processing</a:t>
            </a:r>
            <a:endParaRPr b="0" lang="en-IN" sz="2000" spc="-1" strike="noStrike">
              <a:latin typeface="Times New ROman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Logs stored in HDFS.</a:t>
            </a:r>
            <a:endParaRPr b="0" lang="en-IN" sz="2000" spc="-1" strike="noStrike">
              <a:latin typeface="Times New ROman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Mapper separates severity levels.</a:t>
            </a:r>
            <a:endParaRPr b="0" lang="en-IN" sz="2000" spc="-1" strike="noStrike">
              <a:latin typeface="Times New ROman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Reducer aggregates counts.</a:t>
            </a:r>
            <a:endParaRPr b="0" lang="en-IN" sz="2000" spc="-1" strike="noStrike">
              <a:latin typeface="Times New ROman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Phase 3: PostgreSQL Storage</a:t>
            </a:r>
            <a:endParaRPr b="0" lang="en-IN" sz="2000" spc="-1" strike="noStrike">
              <a:latin typeface="Times New ROman"/>
            </a:endParaRPr>
          </a:p>
          <a:p>
            <a:pPr marL="4572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Results inserted using JDBC.</a:t>
            </a:r>
            <a:endParaRPr b="0" lang="en-IN" sz="2000" spc="-1" strike="noStrike">
              <a:latin typeface="Times New ROman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SQL queries used for reports and search.</a:t>
            </a:r>
            <a:endParaRPr b="0" lang="en-IN" sz="2000" spc="-1" strike="noStrike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31;p21"/>
          <p:cNvSpPr/>
          <p:nvPr/>
        </p:nvSpPr>
        <p:spPr>
          <a:xfrm>
            <a:off x="-79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Results &amp; Discussion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9" name="Google Shape;132;p21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318B554-8C28-4C18-B83B-D4791DD02805}" type="slidenum">
              <a:rPr b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7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80" name="Google Shape;133;p21"/>
          <p:cNvSpPr/>
          <p:nvPr/>
        </p:nvSpPr>
        <p:spPr>
          <a:xfrm>
            <a:off x="161640" y="10800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Cross-Platform Verification</a:t>
            </a:r>
            <a:endParaRPr b="0" lang="en-IN" sz="2000" spc="-1" strike="noStrike">
              <a:latin typeface="Times New ROman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All logs successfully stored without data loss.</a:t>
            </a:r>
            <a:endParaRPr b="0" lang="en-IN" sz="2000" spc="-1" strike="noStrike">
              <a:latin typeface="Times New ROman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Error event detected correctly as MATH_ERROR.</a:t>
            </a:r>
            <a:endParaRPr b="0" lang="en-IN" sz="2000" spc="-1" strike="noStrike">
              <a:latin typeface="Times New ROman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PostgreSQL and Hadoop results matched.</a:t>
            </a:r>
            <a:endParaRPr b="0" lang="en-IN" sz="2000" spc="-1" strike="noStrike">
              <a:latin typeface="Times New ROman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Final Output</a:t>
            </a:r>
            <a:endParaRPr b="0" lang="en-IN" sz="2000" spc="-1" strike="noStrike">
              <a:latin typeface="Times New ROman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INFO = 144</a:t>
            </a:r>
            <a:endParaRPr b="0" lang="en-IN" sz="2000" spc="-1" strike="noStrike">
              <a:latin typeface="Times New ROman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ERROR = 1</a:t>
            </a:r>
            <a:endParaRPr b="0" lang="en-IN" sz="2000" spc="-1" strike="noStrike">
              <a:latin typeface="Times New ROman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Total Logs = 145</a:t>
            </a:r>
            <a:endParaRPr b="0" lang="en-IN" sz="2000" spc="-1" strike="noStrike">
              <a:latin typeface="Times New ROman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Performance</a:t>
            </a:r>
            <a:endParaRPr b="0" lang="en-IN" sz="2000" spc="-1" strike="noStrike">
              <a:latin typeface="Times New ROman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Hadoop processing faster than traditional parsing.</a:t>
            </a:r>
            <a:endParaRPr b="0" lang="en-IN" sz="2000" spc="-1" strike="noStrike">
              <a:latin typeface="Times New ROman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Arial"/>
              </a:rPr>
              <a:t>Better performance for large files (10GB, 100GB, 1TB).</a:t>
            </a:r>
            <a:endParaRPr b="0" lang="en-IN" sz="2000" spc="-1" strike="noStrike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38;p22"/>
          <p:cNvSpPr/>
          <p:nvPr/>
        </p:nvSpPr>
        <p:spPr>
          <a:xfrm>
            <a:off x="-3600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Conclusion &amp; Future Work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2" name="Google Shape;139;p22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96944B2-46A7-46EA-9AA4-18E071D145B5}" type="slidenum">
              <a:rPr b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8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83" name="Google Shape;140;p22"/>
          <p:cNvSpPr/>
          <p:nvPr/>
        </p:nvSpPr>
        <p:spPr>
          <a:xfrm>
            <a:off x="-18360" y="74160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9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Conclusion</a:t>
            </a:r>
            <a:endParaRPr b="0" lang="en-IN" sz="20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Successfully developed an automated log analysis system.</a:t>
            </a:r>
            <a:endParaRPr b="0" lang="en-IN" sz="20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Hadoop improved large-scale processing speed.</a:t>
            </a:r>
            <a:endParaRPr b="0" lang="en-IN" sz="20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PostgreSQL enabled structured storage and fast queries.</a:t>
            </a:r>
            <a:endParaRPr b="0" lang="en-IN" sz="20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Errors and patterns detected automatically.</a:t>
            </a:r>
            <a:endParaRPr b="0" lang="en-IN" sz="20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Reduced manual effort and improved monitoring efficiency.</a:t>
            </a:r>
            <a:endParaRPr b="0" lang="en-IN" sz="20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Suitable for enterprise-scale systems.</a:t>
            </a:r>
            <a:endParaRPr b="0" lang="en-IN" sz="2000" spc="-1" strike="noStrike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Future Work</a:t>
            </a:r>
            <a:endParaRPr b="0" lang="en-IN" sz="20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Integrate Apache Kafka for real-time log streaming.</a:t>
            </a:r>
            <a:endParaRPr b="0" lang="en-IN" sz="20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Use Apache Spark for faster analytics.</a:t>
            </a:r>
            <a:endParaRPr b="0" lang="en-IN" sz="20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Add machine learning anomaly detection.</a:t>
            </a:r>
            <a:endParaRPr b="0" lang="en-IN" sz="20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Develop live monitoring dashboard.</a:t>
            </a:r>
            <a:endParaRPr b="0" lang="en-IN" sz="20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○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Enable alert notifications for critical errors.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45;p23"/>
          <p:cNvSpPr/>
          <p:nvPr/>
        </p:nvSpPr>
        <p:spPr>
          <a:xfrm>
            <a:off x="-1699200" y="0"/>
            <a:ext cx="60192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5" name="Google Shape;146;p2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6AEA817-3DB3-4E72-BC70-C76CDB960E10}" type="slidenum">
              <a:rPr b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9</a:t>
            </a:fld>
            <a:endParaRPr b="0" lang="en-IN" sz="1200" spc="-1" strike="noStrike">
              <a:latin typeface="Arial"/>
            </a:endParaRPr>
          </a:p>
        </p:txBody>
      </p:sp>
      <p:sp>
        <p:nvSpPr>
          <p:cNvPr id="86" name="Google Shape;147;p23"/>
          <p:cNvSpPr/>
          <p:nvPr/>
        </p:nvSpPr>
        <p:spPr>
          <a:xfrm>
            <a:off x="0" y="837360"/>
            <a:ext cx="8838360" cy="48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latin typeface="Arial"/>
            </a:endParaRPr>
          </a:p>
          <a:p>
            <a:pPr marL="4572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[1] I. Sedki, A. Hamou-Lhadj et al., “An Effective Approach for Parsing Large Log Files,” Concordia University.</a:t>
            </a:r>
            <a:endParaRPr b="0" lang="en-IN" sz="2000" spc="-1" strike="noStrike">
              <a:latin typeface="Arial"/>
            </a:endParaRPr>
          </a:p>
          <a:p>
            <a:pPr marL="4572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[2] P. He, J. Zhu, Z. Zheng, M. R. Lyu, “Drain: An Online Log Parsing Approach with Fixed Depth Tree,” IEEE ICWS 2017, pp. 33-40.</a:t>
            </a:r>
            <a:endParaRPr b="0" lang="en-IN" sz="2000" spc="-1" strike="noStrike">
              <a:latin typeface="Arial"/>
            </a:endParaRPr>
          </a:p>
          <a:p>
            <a:pPr marL="4572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[3] “Big Data Analytics with Hadoop,” International Journal of Engineering Research &amp; Technology (IJERT).</a:t>
            </a:r>
            <a:endParaRPr b="0" lang="en-IN" sz="2000" spc="-1" strike="noStrike">
              <a:latin typeface="Arial"/>
            </a:endParaRPr>
          </a:p>
          <a:p>
            <a:pPr marL="4572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[4] H. Annangi, “Security Log Analysis Using Hadoop,” Master’s thesis, St. Cloud State University, MN, 2017.</a:t>
            </a:r>
            <a:endParaRPr b="0" lang="en-IN" sz="2000" spc="-1" strike="noStrike">
              <a:latin typeface="Arial"/>
            </a:endParaRPr>
          </a:p>
          <a:p>
            <a:pPr marL="457200" indent="-324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Times New Roman"/>
              <a:buChar char="●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[5] G. Aydin and I. R. Hallac, “Distributed log analysis on the cloud using MapReduce,” Tehnički vjesnik, vol. 23, no. 4, pp. 1011-1016, 2016.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152;p24"/>
          <p:cNvSpPr/>
          <p:nvPr/>
        </p:nvSpPr>
        <p:spPr>
          <a:xfrm>
            <a:off x="1297440" y="2821680"/>
            <a:ext cx="6705360" cy="14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Thank You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88" name="Google Shape;153;p24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E591B86-0DE4-4CDB-9069-19DF117F9FDA}" type="slidenum">
              <a:rPr b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10</a:t>
            </a:fld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2026-04-29T11:18:22Z</dcterms:modified>
  <cp:revision>3</cp:revision>
  <dc:subject/>
  <dc:title/>
</cp:coreProperties>
</file>